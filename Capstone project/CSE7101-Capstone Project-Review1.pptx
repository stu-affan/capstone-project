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bookmarkIdSeed="2">
  <p:sldMasterIdLst>
    <p:sldMasterId id="2147483659" r:id="rId1"/>
  </p:sldMasterIdLst>
  <p:notesMasterIdLst>
    <p:notesMasterId r:id="rId15"/>
  </p:notesMasterIdLst>
  <p:sldIdLst>
    <p:sldId id="256" r:id="rId2"/>
    <p:sldId id="269" r:id="rId3"/>
    <p:sldId id="257" r:id="rId4"/>
    <p:sldId id="275" r:id="rId5"/>
    <p:sldId id="276" r:id="rId6"/>
    <p:sldId id="277" r:id="rId7"/>
    <p:sldId id="278" r:id="rId8"/>
    <p:sldId id="272" r:id="rId9"/>
    <p:sldId id="279" r:id="rId10"/>
    <p:sldId id="268"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9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tu-Affan/Capstone-Project/tree/main"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038/nature21056"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doi.org/10.1016/j.jbi.2018.08.006" TargetMode="External"/><Relationship Id="rId5" Type="http://schemas.openxmlformats.org/officeDocument/2006/relationships/hyperlink" Target="https://www.nature.com/articles/sdata2018161" TargetMode="External"/><Relationship Id="rId4" Type="http://schemas.openxmlformats.org/officeDocument/2006/relationships/hyperlink" Target="https://www.andreesteva.com/assets/nature_skincancer.pdf"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i="1" dirty="0">
                <a:latin typeface="+mj-lt"/>
              </a:rPr>
              <a:t>AI-Based Tool for Preliminary Diagnosis of Dermatological Manifestations</a:t>
            </a:r>
            <a:endParaRPr dirty="0">
              <a:solidFill>
                <a:schemeClr val="tx1"/>
              </a:solidFill>
              <a:latin typeface="+mj-lt"/>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mj-lt"/>
                <a:ea typeface="Cambria" panose="02040503050406030204" pitchFamily="18" charset="0"/>
              </a:rPr>
              <a:t>Batch Number : CSG_16</a:t>
            </a:r>
            <a:endParaRPr dirty="0">
              <a:latin typeface="+mj-lt"/>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Under the Supervision of,</a:t>
            </a:r>
            <a:endParaRPr sz="1800" b="1" i="0" u="none" strike="noStrike" cap="none" dirty="0">
              <a:solidFill>
                <a:srgbClr val="17365D"/>
              </a:solidFill>
              <a:latin typeface="+mj-lt"/>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Dr. Harish Kumar K.S</a:t>
            </a:r>
            <a:endParaRPr sz="1800"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Assistant Professor</a:t>
            </a:r>
            <a:endParaRPr sz="1800"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School of Computer Science and Engineering</a:t>
            </a:r>
            <a:endParaRPr sz="1800"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Presidency University</a:t>
            </a:r>
            <a:endParaRPr sz="1800" dirty="0">
              <a:latin typeface="+mj-lt"/>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704089366"/>
              </p:ext>
            </p:extLst>
          </p:nvPr>
        </p:nvGraphicFramePr>
        <p:xfrm>
          <a:off x="553347" y="2721840"/>
          <a:ext cx="5418675" cy="222510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22695">
                <a:tc>
                  <a:txBody>
                    <a:bodyPr/>
                    <a:lstStyle/>
                    <a:p>
                      <a:pPr marL="0" marR="0" lvl="1" indent="0" algn="ctr" rtl="0">
                        <a:spcBef>
                          <a:spcPts val="0"/>
                        </a:spcBef>
                        <a:spcAft>
                          <a:spcPts val="0"/>
                        </a:spcAft>
                        <a:buNone/>
                      </a:pPr>
                      <a:r>
                        <a:rPr lang="en-GB" sz="2000" b="1" u="none" strike="noStrike" cap="none" dirty="0">
                          <a:solidFill>
                            <a:srgbClr val="17365D"/>
                          </a:solidFill>
                          <a:latin typeface="+mj-lt"/>
                        </a:rPr>
                        <a:t>Roll Number</a:t>
                      </a:r>
                      <a:endParaRPr sz="2000" b="1" u="none" strike="noStrike" cap="none" dirty="0">
                        <a:solidFill>
                          <a:srgbClr val="17365D"/>
                        </a:solidFill>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b="1" u="none" strike="noStrike" cap="none" dirty="0">
                          <a:solidFill>
                            <a:srgbClr val="17365D"/>
                          </a:solidFill>
                          <a:latin typeface="+mj-lt"/>
                        </a:rPr>
                        <a:t>Student Name</a:t>
                      </a:r>
                      <a:endParaRPr sz="2000" b="1" u="none" strike="noStrike" cap="none" dirty="0">
                        <a:solidFill>
                          <a:srgbClr val="17365D"/>
                        </a:solidFill>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97873">
                <a:tc>
                  <a:txBody>
                    <a:bodyPr/>
                    <a:lstStyle/>
                    <a:p>
                      <a:pPr marL="0" marR="0" lvl="0" indent="0" algn="ctr" rtl="0">
                        <a:spcBef>
                          <a:spcPts val="0"/>
                        </a:spcBef>
                        <a:spcAft>
                          <a:spcPts val="0"/>
                        </a:spcAft>
                        <a:buFont typeface="+mj-lt"/>
                        <a:buNone/>
                      </a:pPr>
                      <a:r>
                        <a:rPr lang="en-US" sz="1800" b="0" u="none" strike="noStrike" cap="none" dirty="0">
                          <a:latin typeface="+mj-lt"/>
                        </a:rPr>
                        <a:t>20221CSG0020</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u="none" strike="noStrike" cap="none" dirty="0">
                          <a:latin typeface="+mj-lt"/>
                        </a:rPr>
                        <a:t>S MOHAMMED AFFAN</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97873">
                <a:tc>
                  <a:txBody>
                    <a:bodyPr/>
                    <a:lstStyle/>
                    <a:p>
                      <a:pPr marL="0" marR="0" lvl="0" indent="0" algn="ctr" rtl="0">
                        <a:spcBef>
                          <a:spcPts val="0"/>
                        </a:spcBef>
                        <a:spcAft>
                          <a:spcPts val="0"/>
                        </a:spcAft>
                        <a:buNone/>
                      </a:pPr>
                      <a:r>
                        <a:rPr lang="en-US" sz="1800" b="0" u="none" strike="noStrike" cap="none" dirty="0">
                          <a:latin typeface="+mj-lt"/>
                        </a:rPr>
                        <a:t>20221CSG0059</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u="none" strike="noStrike" cap="none" dirty="0">
                          <a:latin typeface="+mj-lt"/>
                        </a:rPr>
                        <a:t>KARTHIK MP</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97873">
                <a:tc>
                  <a:txBody>
                    <a:bodyPr/>
                    <a:lstStyle/>
                    <a:p>
                      <a:pPr marL="0" marR="0" lvl="0" indent="0" algn="ctr" rtl="0">
                        <a:spcBef>
                          <a:spcPts val="0"/>
                        </a:spcBef>
                        <a:spcAft>
                          <a:spcPts val="0"/>
                        </a:spcAft>
                        <a:buNone/>
                      </a:pPr>
                      <a:r>
                        <a:rPr lang="en-US" sz="1800" b="0" u="none" strike="noStrike" cap="none" dirty="0">
                          <a:latin typeface="+mj-lt"/>
                        </a:rPr>
                        <a:t>20221CSG0092</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u="none" strike="noStrike" cap="none" dirty="0">
                          <a:latin typeface="+mj-lt"/>
                        </a:rPr>
                        <a:t>CHAITHRA C</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97873">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97873">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45266"/>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400" b="1" dirty="0">
                <a:solidFill>
                  <a:srgbClr val="17365D"/>
                </a:solidFill>
                <a:latin typeface="Verdana" panose="020B0604030504040204" pitchFamily="34" charset="0"/>
                <a:ea typeface="Verdana" panose="020B0604030504040204" pitchFamily="34" charset="0"/>
                <a:cs typeface="Verdana"/>
                <a:sym typeface="Verdana"/>
              </a:rPr>
              <a:t>CSE7101-</a:t>
            </a:r>
            <a:r>
              <a:rPr lang="en-GB" sz="2400" b="1" i="0" u="none" strike="noStrike" cap="none" dirty="0">
                <a:solidFill>
                  <a:srgbClr val="17365D"/>
                </a:solidFill>
                <a:latin typeface="Verdana" panose="020B0604030504040204" pitchFamily="34" charset="0"/>
                <a:ea typeface="Verdana" panose="020B0604030504040204" pitchFamily="34" charset="0"/>
                <a:cs typeface="Verdana"/>
                <a:sym typeface="Verdana"/>
              </a:rPr>
              <a:t> Capstone Project</a:t>
            </a:r>
            <a:endParaRPr sz="2400" dirty="0">
              <a:latin typeface="Verdana" panose="020B0604030504040204" pitchFamily="34" charset="0"/>
              <a:ea typeface="Verdana" panose="020B0604030504040204" pitchFamily="34" charset="0"/>
            </a:endParaRPr>
          </a:p>
          <a:p>
            <a:pPr marL="0" marR="0" lvl="0" indent="0" algn="ctr" rtl="0">
              <a:spcBef>
                <a:spcPts val="310"/>
              </a:spcBef>
              <a:spcAft>
                <a:spcPts val="0"/>
              </a:spcAft>
              <a:buClr>
                <a:srgbClr val="17365D"/>
              </a:buClr>
              <a:buSzPct val="100000"/>
              <a:buFont typeface="Arial"/>
              <a:buNone/>
            </a:pPr>
            <a:r>
              <a:rPr lang="en-GB" sz="2400" b="1" i="0" u="none" strike="noStrike" cap="none" dirty="0">
                <a:solidFill>
                  <a:srgbClr val="17365D"/>
                </a:solidFill>
                <a:latin typeface="Verdana" panose="020B0604030504040204" pitchFamily="34" charset="0"/>
                <a:ea typeface="Verdana" panose="020B0604030504040204" pitchFamily="34" charset="0"/>
                <a:cs typeface="Verdana"/>
                <a:sym typeface="Verdana"/>
              </a:rPr>
              <a:t>Review-1</a:t>
            </a:r>
            <a:endParaRPr sz="2400" b="1" i="0" u="none" strike="noStrike" cap="none" dirty="0">
              <a:solidFill>
                <a:srgbClr val="17365D"/>
              </a:solidFill>
              <a:latin typeface="Verdana" panose="020B0604030504040204" pitchFamily="34" charset="0"/>
              <a:ea typeface="Verdana" panose="020B0604030504040204" pitchFamily="34" charset="0"/>
              <a:cs typeface="Verdana"/>
              <a:sym typeface="Verdana"/>
            </a:endParaRPr>
          </a:p>
        </p:txBody>
      </p:sp>
      <p:sp>
        <p:nvSpPr>
          <p:cNvPr id="8" name="Google Shape;91;p13"/>
          <p:cNvSpPr txBox="1"/>
          <p:nvPr/>
        </p:nvSpPr>
        <p:spPr>
          <a:xfrm>
            <a:off x="2540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mj-lt"/>
                <a:ea typeface="Cambria" panose="02040503050406030204" pitchFamily="18" charset="0"/>
                <a:cs typeface="Verdana"/>
                <a:sym typeface="Verdana"/>
              </a:rPr>
              <a:t>Name of the Program: </a:t>
            </a:r>
            <a:r>
              <a:rPr lang="en-IN" sz="1800" b="1" dirty="0">
                <a:latin typeface="+mj-lt"/>
              </a:rPr>
              <a:t>CSG-Computer Science &amp; Technology(AI ML)</a:t>
            </a:r>
            <a:endParaRPr lang="en-US" sz="1800" b="1" i="0" u="none" strike="noStrike" cap="none" dirty="0">
              <a:solidFill>
                <a:schemeClr val="accent1"/>
              </a:solidFill>
              <a:latin typeface="+mj-lt"/>
              <a:ea typeface="Cambria" panose="02040503050406030204" pitchFamily="18" charset="0"/>
              <a:cs typeface="Verdana"/>
              <a:sym typeface="Verdana"/>
            </a:endParaRPr>
          </a:p>
          <a:p>
            <a:pPr>
              <a:buClr>
                <a:srgbClr val="17365D"/>
              </a:buClr>
              <a:buSzPct val="100000"/>
            </a:pPr>
            <a:r>
              <a:rPr lang="en-US" sz="1800" b="1" dirty="0">
                <a:solidFill>
                  <a:schemeClr val="accent1"/>
                </a:solidFill>
                <a:latin typeface="+mj-lt"/>
                <a:ea typeface="Cambria" panose="02040503050406030204" pitchFamily="18" charset="0"/>
                <a:cs typeface="Verdana"/>
                <a:sym typeface="Verdana"/>
              </a:rPr>
              <a:t>Name of the HoD: </a:t>
            </a:r>
            <a:r>
              <a:rPr lang="en-IN" sz="1800" b="1" dirty="0">
                <a:latin typeface="+mj-lt"/>
              </a:rPr>
              <a:t>Dr.Saira Banu</a:t>
            </a:r>
          </a:p>
          <a:p>
            <a:pPr lvl="0">
              <a:buClr>
                <a:srgbClr val="17365D"/>
              </a:buClr>
              <a:buSzPct val="100000"/>
            </a:pPr>
            <a:r>
              <a:rPr lang="en-US" sz="1800" b="1" i="0" u="none" strike="noStrike" cap="none" dirty="0">
                <a:solidFill>
                  <a:schemeClr val="accent1"/>
                </a:solidFill>
                <a:latin typeface="+mj-lt"/>
                <a:ea typeface="Cambria" panose="02040503050406030204" pitchFamily="18" charset="0"/>
                <a:cs typeface="Verdana"/>
                <a:sym typeface="Verdana"/>
              </a:rPr>
              <a:t>Name of the Program Project Coordinator: </a:t>
            </a:r>
            <a:r>
              <a:rPr lang="en-IN" sz="1800" b="1" dirty="0">
                <a:latin typeface="+mj-lt"/>
              </a:rPr>
              <a:t>Dr. H M Manjula</a:t>
            </a:r>
            <a:endParaRPr lang="en-US" sz="1800" b="1" dirty="0">
              <a:solidFill>
                <a:srgbClr val="FF0000"/>
              </a:solidFill>
              <a:latin typeface="+mj-lt"/>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mj-lt"/>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mj-lt"/>
                <a:ea typeface="Cambria" panose="02040503050406030204" pitchFamily="18" charset="0"/>
                <a:cs typeface="Verdana"/>
                <a:sym typeface="Verdana"/>
              </a:rPr>
              <a:t>Dr. Sampath A K , Dr. Geetha A </a:t>
            </a:r>
            <a:endParaRPr sz="1800" b="1" i="0" u="none" strike="noStrike" cap="none" dirty="0">
              <a:solidFill>
                <a:schemeClr val="tx1"/>
              </a:solidFill>
              <a:latin typeface="+mj-lt"/>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586186"/>
            <a:ext cx="10668000" cy="487500"/>
          </a:xfrm>
          <a:prstGeom prst="rect">
            <a:avLst/>
          </a:prstGeom>
          <a:noFill/>
          <a:ln>
            <a:noFill/>
          </a:ln>
        </p:spPr>
        <p:txBody>
          <a:bodyPr spcFirstLastPara="1" wrap="square" lIns="91425" tIns="45700" rIns="91425" bIns="45700" anchor="ctr" anchorCtr="0">
            <a:noAutofit/>
          </a:bodyPr>
          <a:lstStyle/>
          <a:p>
            <a:r>
              <a:rPr lang="en-US" dirty="0">
                <a:ea typeface="Verdana" panose="020B0604030504040204" pitchFamily="34" charset="0"/>
              </a:rPr>
              <a:t>Problem Description</a:t>
            </a:r>
            <a:br>
              <a:rPr lang="en-US" dirty="0">
                <a:ea typeface="Verdana" panose="020B0604030504040204" pitchFamily="34" charset="0"/>
              </a:rPr>
            </a:br>
            <a:endParaRPr dirty="0">
              <a:latin typeface="+mj-lt"/>
              <a:ea typeface="Cambria" panose="02040503050406030204" pitchFamily="18" charset="0"/>
            </a:endParaRPr>
          </a:p>
        </p:txBody>
      </p:sp>
      <p:sp>
        <p:nvSpPr>
          <p:cNvPr id="97" name="Google Shape;97;p14"/>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Autofit/>
          </a:bodyPr>
          <a:lstStyle/>
          <a:p>
            <a:pPr marL="342900" lvl="0" indent="-190500" algn="just">
              <a:lnSpc>
                <a:spcPct val="200000"/>
              </a:lnSpc>
              <a:spcBef>
                <a:spcPts val="0"/>
              </a:spcBef>
              <a:buNone/>
            </a:pPr>
            <a:r>
              <a:rPr lang="en-US" sz="2200" b="1" dirty="0">
                <a:latin typeface="+mn-lt"/>
                <a:ea typeface="Verdana" panose="020B0604030504040204" pitchFamily="34" charset="0"/>
              </a:rPr>
              <a:t>Category : Software</a:t>
            </a:r>
          </a:p>
          <a:p>
            <a:pPr marL="76200" indent="0">
              <a:buNone/>
            </a:pPr>
            <a:r>
              <a:rPr lang="en-US" sz="2200" dirty="0">
                <a:latin typeface="+mn-lt"/>
              </a:rPr>
              <a:t>Skin diseases are among the most common global health concerns, ranging from minor infections to chronic disorders and cancers, where early and accurate diagnosis is critical. However, access to dermatologists remains limited due to specialist shortages and high patient loads. To address this, the project proposes an AI-based tool that leverages image processing and machine learning to provide preliminary dermatological diagnosis. The system analyzes images of skin lesions and generates possible diagnoses with confidence scores and visual explanations, ensuring transparency. Designed as a decision-support tool, it enables early detection, risk prioritization, and timely referral rather than replacing dermatologists. A lightweight CNN with transfer learning ensures efficiency and accuracy across diverse skin tones. Finally, deployment as a web/mobile prototype makes it suitable for tele-dermatology and community healthcare, improving accessibility while reducing the burden on specialists.</a:t>
            </a:r>
            <a:endParaRPr lang="en-US" sz="2200" b="1" dirty="0">
              <a:latin typeface="+mn-lt"/>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655782" y="274637"/>
            <a:ext cx="10825018" cy="1081551"/>
          </a:xfrm>
          <a:prstGeom prst="rect">
            <a:avLst/>
          </a:prstGeom>
          <a:noFill/>
          <a:ln>
            <a:noFill/>
          </a:ln>
        </p:spPr>
        <p:txBody>
          <a:bodyPr spcFirstLastPara="1" wrap="square" lIns="91425" tIns="45700" rIns="91425" bIns="45700" anchor="ctr" anchorCtr="0">
            <a:noAutofit/>
          </a:bodyPr>
          <a:lstStyle/>
          <a:p>
            <a:r>
              <a:rPr lang="en-GB" dirty="0">
                <a:latin typeface="Cambria" panose="02040503050406030204" pitchFamily="18" charset="0"/>
                <a:ea typeface="Cambria" panose="02040503050406030204" pitchFamily="18" charset="0"/>
              </a:rPr>
              <a:t> </a:t>
            </a:r>
            <a:r>
              <a:rPr lang="en-US" dirty="0"/>
              <a:t>Problem Statement</a:t>
            </a:r>
            <a:r>
              <a:rPr lang="en-US" i="1" dirty="0"/>
              <a:t>_PSCS_49</a:t>
            </a:r>
            <a:br>
              <a:rPr lang="en-US" dirty="0"/>
            </a:b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091699"/>
            <a:ext cx="10668000" cy="3924299"/>
          </a:xfrm>
          <a:prstGeom prst="rect">
            <a:avLst/>
          </a:prstGeom>
          <a:noFill/>
          <a:ln>
            <a:noFill/>
          </a:ln>
        </p:spPr>
        <p:txBody>
          <a:bodyPr spcFirstLastPara="1" wrap="square" lIns="91425" tIns="45700" rIns="91425" bIns="45700" anchor="t" anchorCtr="0">
            <a:normAutofit/>
          </a:bodyPr>
          <a:lstStyle/>
          <a:p>
            <a:pPr marL="76200" indent="0">
              <a:buNone/>
            </a:pPr>
            <a:r>
              <a:rPr lang="en-US" sz="2200" dirty="0">
                <a:latin typeface="+mn-lt"/>
              </a:rPr>
              <a:t>Skin diseases present a major healthcare challenge due to their high prevalence, visual complexity, and similarity across conditions, which often makes accurate diagnosis difficult. While AI has shown great promise in medical image analysis, most existing solutions in dermatology are either disease-specific, limited in scope, or unable to adapt to diverse populations and skin tones. This leads to reduced reliability and restricts their application in real-world scenarios. There is a clear need for a generalized, inclusive, and explainable system that can assist in the preliminary identification of dermatological conditions. The proposed project directly addresses this gap by creating an AI-based diagnostic tool capable of supporting patients and healthcare providers in early and accurate decision-making.</a:t>
            </a:r>
            <a:endParaRPr lang="en-US" sz="2200" dirty="0">
              <a:latin typeface="+mn-lt"/>
              <a:ea typeface="Cambria" panose="02040503050406030204" pitchFamily="18" charset="0"/>
            </a:endParaRPr>
          </a:p>
          <a:p>
            <a:pPr marL="152400" indent="0" algn="just">
              <a:lnSpc>
                <a:spcPct val="200000"/>
              </a:lnSpc>
              <a:spcBef>
                <a:spcPts val="0"/>
              </a:spcBef>
              <a:buNone/>
            </a:pPr>
            <a:endParaRPr lang="en-US" sz="2200" dirty="0">
              <a:latin typeface="+mn-lt"/>
              <a:ea typeface="Cambria" panose="02040503050406030204" pitchFamily="18" charset="0"/>
            </a:endParaRPr>
          </a:p>
          <a:p>
            <a:pPr marL="152400" indent="0" algn="just">
              <a:lnSpc>
                <a:spcPct val="200000"/>
              </a:lnSpc>
              <a:spcBef>
                <a:spcPts val="0"/>
              </a:spcBef>
              <a:buNone/>
            </a:pPr>
            <a:endParaRPr lang="en-US" sz="2200" dirty="0">
              <a:latin typeface="+mn-lt"/>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2200" dirty="0">
              <a:latin typeface="+mn-lt"/>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200" dirty="0">
              <a:latin typeface="+mn-lt"/>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5D3DC-E110-5DC9-B490-0320B45F9D88}"/>
              </a:ext>
            </a:extLst>
          </p:cNvPr>
          <p:cNvSpPr>
            <a:spLocks noGrp="1"/>
          </p:cNvSpPr>
          <p:nvPr>
            <p:ph type="title"/>
          </p:nvPr>
        </p:nvSpPr>
        <p:spPr>
          <a:xfrm>
            <a:off x="812800" y="655501"/>
            <a:ext cx="10668000" cy="487500"/>
          </a:xfrm>
        </p:spPr>
        <p:txBody>
          <a:bodyPr/>
          <a:lstStyle/>
          <a:p>
            <a:r>
              <a:rPr lang="en-US" dirty="0">
                <a:latin typeface="Verdana" panose="020B0604030504040204" pitchFamily="34" charset="0"/>
                <a:ea typeface="Verdana" panose="020B0604030504040204" pitchFamily="34" charset="0"/>
              </a:rPr>
              <a:t>Objectives</a:t>
            </a:r>
            <a:br>
              <a:rPr lang="en-US" sz="3200" dirty="0">
                <a:latin typeface="Verdana" panose="020B0604030504040204" pitchFamily="34" charset="0"/>
                <a:ea typeface="Verdana" panose="020B0604030504040204" pitchFamily="34" charset="0"/>
              </a:rPr>
            </a:br>
            <a:endParaRPr lang="en-IN" sz="3200" dirty="0">
              <a:latin typeface="Verdana" panose="020B0604030504040204" pitchFamily="34" charset="0"/>
              <a:ea typeface="Verdana" panose="020B0604030504040204" pitchFamily="34" charset="0"/>
            </a:endParaRPr>
          </a:p>
        </p:txBody>
      </p:sp>
      <p:sp>
        <p:nvSpPr>
          <p:cNvPr id="3" name="Text Placeholder 2">
            <a:extLst>
              <a:ext uri="{FF2B5EF4-FFF2-40B4-BE49-F238E27FC236}">
                <a16:creationId xmlns:a16="http://schemas.microsoft.com/office/drawing/2014/main" id="{73266F53-A752-F455-EEC8-BA70F683D833}"/>
              </a:ext>
            </a:extLst>
          </p:cNvPr>
          <p:cNvSpPr>
            <a:spLocks noGrp="1"/>
          </p:cNvSpPr>
          <p:nvPr>
            <p:ph type="body" idx="1"/>
          </p:nvPr>
        </p:nvSpPr>
        <p:spPr/>
        <p:txBody>
          <a:bodyPr>
            <a:normAutofit/>
          </a:bodyPr>
          <a:lstStyle/>
          <a:p>
            <a:pPr marL="76200" indent="0">
              <a:buNone/>
            </a:pPr>
            <a:r>
              <a:rPr lang="en-US" sz="2200" dirty="0">
                <a:latin typeface="+mn-lt"/>
              </a:rPr>
              <a:t>The project titled </a:t>
            </a:r>
            <a:r>
              <a:rPr lang="en-US" sz="2200" b="1" i="1" dirty="0">
                <a:latin typeface="+mn-lt"/>
              </a:rPr>
              <a:t>AI-Based Tool for Preliminary Diagnosis of Dermatological Manifestations</a:t>
            </a:r>
            <a:r>
              <a:rPr lang="en-US" sz="2200" i="1" dirty="0">
                <a:latin typeface="+mn-lt"/>
              </a:rPr>
              <a:t> </a:t>
            </a:r>
            <a:r>
              <a:rPr lang="en-US" sz="2200" dirty="0">
                <a:latin typeface="+mn-lt"/>
              </a:rPr>
              <a:t>focuses on developing an intelligent system to assist in the early identification of skin diseases using image processing and machine learning. </a:t>
            </a:r>
          </a:p>
          <a:p>
            <a:pPr marL="76200" indent="0">
              <a:buNone/>
            </a:pPr>
            <a:r>
              <a:rPr lang="en-US" sz="2200" dirty="0">
                <a:latin typeface="+mn-lt"/>
              </a:rPr>
              <a:t>The primary objective is to analyze images of skin lesions, rashes, or other dermatological conditions using advanced image processing and machine learning techniques. The tool will generate possible diagnoses along with confidence scores, thereby supporting both patients and healthcare providers. By enabling timely detection and prioritization of cases, the system aims to reduce diagnostic delays and enhance healthcare outcomes. This project is intended as a decision-support system and not as a replacement for dermatologists, ensuring safe and ethical application in medical practice.</a:t>
            </a:r>
          </a:p>
        </p:txBody>
      </p:sp>
    </p:spTree>
    <p:extLst>
      <p:ext uri="{BB962C8B-B14F-4D97-AF65-F5344CB8AC3E}">
        <p14:creationId xmlns:p14="http://schemas.microsoft.com/office/powerpoint/2010/main" val="1689195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C9E26-4578-BE97-2B13-A24AC19BD8A3}"/>
              </a:ext>
            </a:extLst>
          </p:cNvPr>
          <p:cNvSpPr>
            <a:spLocks noGrp="1"/>
          </p:cNvSpPr>
          <p:nvPr>
            <p:ph type="title"/>
          </p:nvPr>
        </p:nvSpPr>
        <p:spPr>
          <a:xfrm>
            <a:off x="812800" y="520089"/>
            <a:ext cx="10668000" cy="686260"/>
          </a:xfrm>
        </p:spPr>
        <p:txBody>
          <a:bodyPr/>
          <a:lstStyle/>
          <a:p>
            <a:r>
              <a:rPr lang="en-US" dirty="0">
                <a:latin typeface="Verdana" panose="020B0604030504040204" pitchFamily="34" charset="0"/>
                <a:ea typeface="Verdana" panose="020B0604030504040204" pitchFamily="34" charset="0"/>
              </a:rPr>
              <a:t>Background and Related work for title Selection</a:t>
            </a:r>
            <a:br>
              <a:rPr lang="en-US" dirty="0">
                <a:latin typeface="Verdana" panose="020B0604030504040204" pitchFamily="34" charset="0"/>
                <a:ea typeface="Verdana" panose="020B0604030504040204" pitchFamily="34" charset="0"/>
              </a:rPr>
            </a:br>
            <a:endParaRPr lang="en-IN" dirty="0">
              <a:latin typeface="Verdana" panose="020B0604030504040204" pitchFamily="34" charset="0"/>
              <a:ea typeface="Verdana" panose="020B0604030504040204" pitchFamily="34" charset="0"/>
            </a:endParaRPr>
          </a:p>
        </p:txBody>
      </p:sp>
      <p:sp>
        <p:nvSpPr>
          <p:cNvPr id="3" name="Text Placeholder 2">
            <a:extLst>
              <a:ext uri="{FF2B5EF4-FFF2-40B4-BE49-F238E27FC236}">
                <a16:creationId xmlns:a16="http://schemas.microsoft.com/office/drawing/2014/main" id="{A691174F-66A7-3B6D-1297-BD9E351799B1}"/>
              </a:ext>
            </a:extLst>
          </p:cNvPr>
          <p:cNvSpPr>
            <a:spLocks noGrp="1"/>
          </p:cNvSpPr>
          <p:nvPr>
            <p:ph type="body" idx="1"/>
          </p:nvPr>
        </p:nvSpPr>
        <p:spPr/>
        <p:txBody>
          <a:bodyPr>
            <a:normAutofit fontScale="92500"/>
          </a:bodyPr>
          <a:lstStyle/>
          <a:p>
            <a:pPr marL="76200" indent="0">
              <a:buNone/>
            </a:pPr>
            <a:r>
              <a:rPr lang="en-US" dirty="0">
                <a:latin typeface="+mn-lt"/>
              </a:rPr>
              <a:t>Skin diseases are among the most widespread health issues worldwide, and early detection is essential to avoid serious complications. Unfortunately, timely access to dermatologists is often limited due to high patient loads and a shortage of specialists. With the advancement of Artificial Intelligence, particularly deep learning models such as Convolutional Neural Networks (CNNs), significant progress has been made in medical image analysis. For instance, Esteva et al. (2017) demonstrated that AI can classify skin cancer images with accuracy comparable to expert dermatologists. Publicly available datasets like HAM10000 and ISIC, along with methods such as Grad-CAM, have enabled training of more generalized and interpretable models. However, most existing approaches focus on specific diseases or fail to generalize across different conditions and skin tones. To address this gap, the proposed project aims to build an AI-based tool for preliminary diagnosis of dermatological manifestations that is more generalized, accessible, and supportive.</a:t>
            </a:r>
            <a:endParaRPr lang="en-IN" dirty="0">
              <a:latin typeface="+mn-lt"/>
            </a:endParaRPr>
          </a:p>
        </p:txBody>
      </p:sp>
    </p:spTree>
    <p:extLst>
      <p:ext uri="{BB962C8B-B14F-4D97-AF65-F5344CB8AC3E}">
        <p14:creationId xmlns:p14="http://schemas.microsoft.com/office/powerpoint/2010/main" val="1010322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AFCD1-43E6-72B7-BC82-FEC93D76D2CA}"/>
              </a:ext>
            </a:extLst>
          </p:cNvPr>
          <p:cNvSpPr>
            <a:spLocks noGrp="1"/>
          </p:cNvSpPr>
          <p:nvPr>
            <p:ph type="title"/>
          </p:nvPr>
        </p:nvSpPr>
        <p:spPr>
          <a:xfrm>
            <a:off x="812800" y="395824"/>
            <a:ext cx="10668000" cy="487500"/>
          </a:xfrm>
        </p:spPr>
        <p:txBody>
          <a:bodyPr/>
          <a:lstStyle/>
          <a:p>
            <a:r>
              <a:rPr lang="en-IN" dirty="0">
                <a:latin typeface="Verdana" panose="020B0604030504040204" pitchFamily="34" charset="0"/>
                <a:ea typeface="Verdana" panose="020B0604030504040204" pitchFamily="34" charset="0"/>
              </a:rPr>
              <a:t>Proposed Methodology</a:t>
            </a:r>
          </a:p>
        </p:txBody>
      </p:sp>
      <p:sp>
        <p:nvSpPr>
          <p:cNvPr id="3" name="Text Placeholder 2">
            <a:extLst>
              <a:ext uri="{FF2B5EF4-FFF2-40B4-BE49-F238E27FC236}">
                <a16:creationId xmlns:a16="http://schemas.microsoft.com/office/drawing/2014/main" id="{F410F5DE-FF12-B28F-5208-885434C50FB6}"/>
              </a:ext>
            </a:extLst>
          </p:cNvPr>
          <p:cNvSpPr>
            <a:spLocks noGrp="1"/>
          </p:cNvSpPr>
          <p:nvPr>
            <p:ph type="body" idx="1"/>
          </p:nvPr>
        </p:nvSpPr>
        <p:spPr/>
        <p:txBody>
          <a:bodyPr>
            <a:normAutofit/>
          </a:bodyPr>
          <a:lstStyle/>
          <a:p>
            <a:pPr marL="76200" indent="0">
              <a:buNone/>
            </a:pPr>
            <a:r>
              <a:rPr lang="en-US" sz="2200" dirty="0">
                <a:latin typeface="+mn-lt"/>
              </a:rPr>
              <a:t>The proposed system will begin with the collection of a large and diverse dataset of dermatological images covering multiple skin conditions and tones. Image preprocessing techniques will be applied to enhance quality, remove noise, and normalize variations. A deep learning architecture, particularly Convolutional Neural Networks (CNNs), will be employed to extract features and classify skin manifestations. Transfer learning with pre-trained models such as </a:t>
            </a:r>
            <a:r>
              <a:rPr lang="en-US" sz="2200" dirty="0" err="1">
                <a:latin typeface="+mn-lt"/>
              </a:rPr>
              <a:t>ResNet</a:t>
            </a:r>
            <a:r>
              <a:rPr lang="en-US" sz="2200" dirty="0">
                <a:latin typeface="+mn-lt"/>
              </a:rPr>
              <a:t> or </a:t>
            </a:r>
            <a:r>
              <a:rPr lang="en-US" sz="2200" dirty="0" err="1">
                <a:latin typeface="+mn-lt"/>
              </a:rPr>
              <a:t>EfficientNet</a:t>
            </a:r>
            <a:r>
              <a:rPr lang="en-US" sz="2200" dirty="0">
                <a:latin typeface="+mn-lt"/>
              </a:rPr>
              <a:t> will be explored to improve accuracy and reduce training time. The system will also incorporate explainable AI techniques such as Grad-CAM to provide interpretable predictions along with confidence scores. Finally, the tool will be deployed as a user-friendly web or mobile application, ensuring accessibility for both healthcare professionals and patients.</a:t>
            </a:r>
            <a:endParaRPr lang="en-IN" sz="2200" dirty="0">
              <a:latin typeface="+mn-lt"/>
            </a:endParaRPr>
          </a:p>
        </p:txBody>
      </p:sp>
    </p:spTree>
    <p:extLst>
      <p:ext uri="{BB962C8B-B14F-4D97-AF65-F5344CB8AC3E}">
        <p14:creationId xmlns:p14="http://schemas.microsoft.com/office/powerpoint/2010/main" val="117029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F7E1C-9F5F-BCA1-84D6-027E2C938650}"/>
              </a:ext>
            </a:extLst>
          </p:cNvPr>
          <p:cNvSpPr>
            <a:spLocks noGrp="1"/>
          </p:cNvSpPr>
          <p:nvPr>
            <p:ph type="title"/>
          </p:nvPr>
        </p:nvSpPr>
        <p:spPr>
          <a:xfrm>
            <a:off x="812800" y="373790"/>
            <a:ext cx="10668000" cy="487500"/>
          </a:xfrm>
        </p:spPr>
        <p:txBody>
          <a:bodyPr/>
          <a:lstStyle/>
          <a:p>
            <a:r>
              <a:rPr lang="en-IN" dirty="0">
                <a:latin typeface="Verdana" panose="020B0604030504040204" pitchFamily="34" charset="0"/>
                <a:ea typeface="Verdana" panose="020B0604030504040204" pitchFamily="34" charset="0"/>
              </a:rPr>
              <a:t>Innovation or Novel Contribution</a:t>
            </a:r>
          </a:p>
        </p:txBody>
      </p:sp>
      <p:sp>
        <p:nvSpPr>
          <p:cNvPr id="3" name="Text Placeholder 2">
            <a:extLst>
              <a:ext uri="{FF2B5EF4-FFF2-40B4-BE49-F238E27FC236}">
                <a16:creationId xmlns:a16="http://schemas.microsoft.com/office/drawing/2014/main" id="{F33CBC31-C2EB-B1EC-1DE3-E67FEC8CA690}"/>
              </a:ext>
            </a:extLst>
          </p:cNvPr>
          <p:cNvSpPr>
            <a:spLocks noGrp="1"/>
          </p:cNvSpPr>
          <p:nvPr>
            <p:ph type="body" idx="1"/>
          </p:nvPr>
        </p:nvSpPr>
        <p:spPr/>
        <p:txBody>
          <a:bodyPr>
            <a:normAutofit/>
          </a:bodyPr>
          <a:lstStyle/>
          <a:p>
            <a:pPr marL="76200" indent="0">
              <a:buNone/>
            </a:pPr>
            <a:r>
              <a:rPr lang="en-US" sz="2200" dirty="0">
                <a:latin typeface="+mn-lt"/>
              </a:rPr>
              <a:t>The novelty of this project lies in its focus on developing a generalized AI-based tool capable of diagnosing a wide range of dermatological manifestations rather than being restricted to a single disease. Unlike existing systems, the tool will be designed to handle variations across different skin tones, age groups, and conditions, making it more inclusive and reliable. It integrates advanced deep learning techniques with explainable AI methods to provide confidence scores and visual interpretations, helping users and healthcare providers trust the predictions. The system is intended to function as a decision-support tool rather than a replacement for dermatologists, ensuring safe adoption in real-world healthcare. Moreover, by leveraging accessible platforms such as mobile or web applications, it extends dermatological support to both urban and rural populations. This combination of inclusivity, explainability, and accessibility makes the project a significant improvement over existing solutions.</a:t>
            </a:r>
            <a:endParaRPr lang="en-IN" sz="2200" dirty="0">
              <a:latin typeface="+mn-lt"/>
            </a:endParaRPr>
          </a:p>
        </p:txBody>
      </p:sp>
    </p:spTree>
    <p:extLst>
      <p:ext uri="{BB962C8B-B14F-4D97-AF65-F5344CB8AC3E}">
        <p14:creationId xmlns:p14="http://schemas.microsoft.com/office/powerpoint/2010/main" val="1315903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Verdana" panose="020B0604030504040204" pitchFamily="34" charset="0"/>
                <a:ea typeface="Verdana" panose="020B0604030504040204" pitchFamily="34" charset="0"/>
              </a:rPr>
              <a:t>Analysis of Problem Statement </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b="1" dirty="0">
                <a:latin typeface="+mj-lt"/>
              </a:rPr>
              <a:t>Technology Stack Components</a:t>
            </a:r>
          </a:p>
          <a:p>
            <a:r>
              <a:rPr lang="en-IN" sz="2200" dirty="0">
                <a:latin typeface="+mn-lt"/>
              </a:rPr>
              <a:t>Programming Languages: Python (for AI/ML models), JavaScript/React (for web)</a:t>
            </a:r>
          </a:p>
          <a:p>
            <a:r>
              <a:rPr lang="en-IN" sz="2200" dirty="0">
                <a:latin typeface="+mn-lt"/>
              </a:rPr>
              <a:t>AI/ML Libraries: TensorFlow / </a:t>
            </a:r>
            <a:r>
              <a:rPr lang="en-IN" sz="2200" dirty="0" err="1">
                <a:latin typeface="+mn-lt"/>
              </a:rPr>
              <a:t>PyTorch</a:t>
            </a:r>
            <a:r>
              <a:rPr lang="en-IN" sz="2200" dirty="0">
                <a:latin typeface="+mn-lt"/>
              </a:rPr>
              <a:t>, </a:t>
            </a:r>
            <a:r>
              <a:rPr lang="en-IN" sz="2200" dirty="0" err="1">
                <a:latin typeface="+mn-lt"/>
              </a:rPr>
              <a:t>Keras</a:t>
            </a:r>
            <a:r>
              <a:rPr lang="en-IN" sz="2200" dirty="0">
                <a:latin typeface="+mn-lt"/>
              </a:rPr>
              <a:t>, OpenCV (for image preprocessing)</a:t>
            </a:r>
          </a:p>
          <a:p>
            <a:r>
              <a:rPr lang="en-IN" sz="2200" dirty="0">
                <a:latin typeface="+mn-lt"/>
              </a:rPr>
              <a:t>Frameworks: Flask / </a:t>
            </a:r>
            <a:r>
              <a:rPr lang="en-IN" sz="2200" dirty="0" err="1">
                <a:latin typeface="+mn-lt"/>
              </a:rPr>
              <a:t>FastAPI</a:t>
            </a:r>
            <a:r>
              <a:rPr lang="en-IN" sz="2200" dirty="0">
                <a:latin typeface="+mn-lt"/>
              </a:rPr>
              <a:t> (for backend)</a:t>
            </a:r>
          </a:p>
          <a:p>
            <a:r>
              <a:rPr lang="en-IN" sz="2200" dirty="0">
                <a:latin typeface="+mn-lt"/>
              </a:rPr>
              <a:t>Databases: MySQL / MongoDB (for patient data and model outputs)</a:t>
            </a:r>
          </a:p>
          <a:p>
            <a:r>
              <a:rPr lang="en-IN" sz="2200" dirty="0">
                <a:latin typeface="+mn-lt"/>
              </a:rPr>
              <a:t>Cloud Platforms: AWS / Google Cloud / Azure for hosting and model deployment</a:t>
            </a:r>
          </a:p>
          <a:p>
            <a:r>
              <a:rPr lang="en-IN" sz="2200" dirty="0">
                <a:latin typeface="+mn-lt"/>
              </a:rPr>
              <a:t>Visualization: Grad-CAM or LIME for explainable AI heatmaps</a:t>
            </a:r>
          </a:p>
          <a:p>
            <a:pPr marL="342900" lvl="0" indent="-190500" algn="just" rtl="0">
              <a:lnSpc>
                <a:spcPct val="200000"/>
              </a:lnSpc>
              <a:spcBef>
                <a:spcPts val="0"/>
              </a:spcBef>
              <a:spcAft>
                <a:spcPts val="0"/>
              </a:spcAft>
              <a:buClr>
                <a:schemeClr val="dk1"/>
              </a:buClr>
              <a:buSzPct val="100000"/>
              <a:buNone/>
            </a:pPr>
            <a:endParaRPr lang="en-US" sz="22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047C4-7404-7389-C830-FE732B7C59FF}"/>
              </a:ext>
            </a:extLst>
          </p:cNvPr>
          <p:cNvSpPr>
            <a:spLocks noGrp="1"/>
          </p:cNvSpPr>
          <p:nvPr>
            <p:ph type="title"/>
          </p:nvPr>
        </p:nvSpPr>
        <p:spPr/>
        <p:txBody>
          <a:bodyPr/>
          <a:lstStyle/>
          <a:p>
            <a:r>
              <a:rPr lang="en-US" dirty="0">
                <a:latin typeface="Verdana" panose="020B0604030504040204" pitchFamily="34" charset="0"/>
                <a:ea typeface="Verdana" panose="020B0604030504040204" pitchFamily="34" charset="0"/>
                <a:cs typeface="Ebrima" panose="02000000000000000000" pitchFamily="2" charset="0"/>
              </a:rPr>
              <a:t>Analysis of Problem Statement </a:t>
            </a:r>
            <a:endParaRPr lang="en-IN" dirty="0">
              <a:latin typeface="Verdana" panose="020B0604030504040204" pitchFamily="34" charset="0"/>
              <a:ea typeface="Verdana" panose="020B0604030504040204" pitchFamily="34" charset="0"/>
              <a:cs typeface="Ebrima" panose="02000000000000000000" pitchFamily="2" charset="0"/>
            </a:endParaRPr>
          </a:p>
        </p:txBody>
      </p:sp>
      <p:sp>
        <p:nvSpPr>
          <p:cNvPr id="3" name="Text Placeholder 2">
            <a:extLst>
              <a:ext uri="{FF2B5EF4-FFF2-40B4-BE49-F238E27FC236}">
                <a16:creationId xmlns:a16="http://schemas.microsoft.com/office/drawing/2014/main" id="{B7141050-D698-0197-3985-123F71B8DFDE}"/>
              </a:ext>
            </a:extLst>
          </p:cNvPr>
          <p:cNvSpPr>
            <a:spLocks noGrp="1"/>
          </p:cNvSpPr>
          <p:nvPr>
            <p:ph type="body" idx="1"/>
          </p:nvPr>
        </p:nvSpPr>
        <p:spPr/>
        <p:txBody>
          <a:bodyPr>
            <a:normAutofit/>
          </a:bodyPr>
          <a:lstStyle/>
          <a:p>
            <a:pPr marL="76200" indent="0">
              <a:buNone/>
            </a:pPr>
            <a:r>
              <a:rPr lang="en-IN" b="1" dirty="0">
                <a:latin typeface="+mj-lt"/>
              </a:rPr>
              <a:t>Software Requirements</a:t>
            </a:r>
          </a:p>
          <a:p>
            <a:r>
              <a:rPr lang="en-IN" sz="2200" dirty="0">
                <a:latin typeface="+mn-lt"/>
              </a:rPr>
              <a:t>OS: Windows / Linux / macOS (for development)</a:t>
            </a:r>
          </a:p>
          <a:p>
            <a:r>
              <a:rPr lang="en-IN" sz="2200" dirty="0">
                <a:latin typeface="+mn-lt"/>
              </a:rPr>
              <a:t>Development Tools: </a:t>
            </a:r>
            <a:r>
              <a:rPr lang="en-IN" sz="2200" dirty="0" err="1">
                <a:latin typeface="+mn-lt"/>
              </a:rPr>
              <a:t>Jupyter</a:t>
            </a:r>
            <a:r>
              <a:rPr lang="en-IN" sz="2200" dirty="0">
                <a:latin typeface="+mn-lt"/>
              </a:rPr>
              <a:t> Notebook, PyCharm / VS Code</a:t>
            </a:r>
          </a:p>
          <a:p>
            <a:r>
              <a:rPr lang="en-IN" sz="2200" dirty="0">
                <a:latin typeface="+mn-lt"/>
              </a:rPr>
              <a:t>Libraries: TensorFlow, </a:t>
            </a:r>
            <a:r>
              <a:rPr lang="en-IN" sz="2200" dirty="0" err="1">
                <a:latin typeface="+mn-lt"/>
              </a:rPr>
              <a:t>PyTorch</a:t>
            </a:r>
            <a:r>
              <a:rPr lang="en-IN" sz="2200" dirty="0">
                <a:latin typeface="+mn-lt"/>
              </a:rPr>
              <a:t>, OpenCV, scikit-learn, NumPy, Pandas, Matplotlib</a:t>
            </a:r>
          </a:p>
          <a:p>
            <a:r>
              <a:rPr lang="en-IN" sz="2200" dirty="0">
                <a:latin typeface="+mn-lt"/>
              </a:rPr>
              <a:t>Web Tools: Node.js, React.js (for frontend), Flask/</a:t>
            </a:r>
            <a:r>
              <a:rPr lang="en-IN" sz="2200" dirty="0" err="1">
                <a:latin typeface="+mn-lt"/>
              </a:rPr>
              <a:t>FastAPI</a:t>
            </a:r>
            <a:r>
              <a:rPr lang="en-IN" sz="2200" dirty="0">
                <a:latin typeface="+mn-lt"/>
              </a:rPr>
              <a:t> (for backend APIs)</a:t>
            </a:r>
          </a:p>
        </p:txBody>
      </p:sp>
    </p:spTree>
    <p:extLst>
      <p:ext uri="{BB962C8B-B14F-4D97-AF65-F5344CB8AC3E}">
        <p14:creationId xmlns:p14="http://schemas.microsoft.com/office/powerpoint/2010/main" val="2995677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Verdana" panose="020B0604030504040204" pitchFamily="34" charset="0"/>
                <a:ea typeface="Verdana" panose="020B0604030504040204" pitchFamily="34"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7" name="Rectangle 3">
            <a:extLst>
              <a:ext uri="{FF2B5EF4-FFF2-40B4-BE49-F238E27FC236}">
                <a16:creationId xmlns:a16="http://schemas.microsoft.com/office/drawing/2014/main" id="{77D673E7-D9F0-CC55-3E4D-394C44D1F8EF}"/>
              </a:ext>
            </a:extLst>
          </p:cNvPr>
          <p:cNvSpPr>
            <a:spLocks noChangeArrowheads="1"/>
          </p:cNvSpPr>
          <p:nvPr/>
        </p:nvSpPr>
        <p:spPr bwMode="auto">
          <a:xfrm>
            <a:off x="969485" y="1432193"/>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155CC"/>
                </a:solidFill>
                <a:effectLst/>
                <a:latin typeface="Arial" panose="020B0604020202020204" pitchFamily="34" charset="0"/>
                <a:cs typeface="Arial" panose="020B0604020202020204" pitchFamily="34" charset="0"/>
                <a:hlinkClick r:id="rId3"/>
              </a:rPr>
              <a:t>https://github.com/Stu-Affan/Capstone-Project/tree/main</a:t>
            </a:r>
            <a:r>
              <a:rPr kumimoji="0" lang="en-US" altLang="en-US" sz="1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Verdana" panose="020B0604030504040204" pitchFamily="34" charset="0"/>
                <a:ea typeface="Verdana" panose="020B0604030504040204" pitchFamily="34" charset="0"/>
              </a:rPr>
              <a:t>Timeline of the Project (Gantt Chart)</a:t>
            </a:r>
            <a:endParaRPr dirty="0">
              <a:latin typeface="Verdana" panose="020B0604030504040204" pitchFamily="34" charset="0"/>
              <a:ea typeface="Verdana" panose="020B0604030504040204" pitchFamily="34" charset="0"/>
            </a:endParaRPr>
          </a:p>
        </p:txBody>
      </p:sp>
      <p:pic>
        <p:nvPicPr>
          <p:cNvPr id="10" name="Picture 9">
            <a:extLst>
              <a:ext uri="{FF2B5EF4-FFF2-40B4-BE49-F238E27FC236}">
                <a16:creationId xmlns:a16="http://schemas.microsoft.com/office/drawing/2014/main" id="{D28678D4-CA03-70AF-CAA6-57C2430B6A09}"/>
              </a:ext>
            </a:extLst>
          </p:cNvPr>
          <p:cNvPicPr>
            <a:picLocks noChangeAspect="1"/>
          </p:cNvPicPr>
          <p:nvPr/>
        </p:nvPicPr>
        <p:blipFill>
          <a:blip r:embed="rId3"/>
          <a:stretch>
            <a:fillRect/>
          </a:stretch>
        </p:blipFill>
        <p:spPr>
          <a:xfrm>
            <a:off x="812800" y="1006667"/>
            <a:ext cx="10668000" cy="498316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lvl="0"/>
            <a:r>
              <a:rPr lang="en-GB" dirty="0">
                <a:latin typeface="Verdana" panose="020B0604030504040204" pitchFamily="34" charset="0"/>
                <a:ea typeface="Verdana" panose="020B0604030504040204" pitchFamily="34" charset="0"/>
              </a:rPr>
              <a:t>References (IEEE Paper format)</a:t>
            </a:r>
            <a:endParaRPr dirty="0">
              <a:latin typeface="Verdana" panose="020B0604030504040204" pitchFamily="34" charset="0"/>
              <a:ea typeface="Verdana" panose="020B0604030504040204" pitchFamily="34" charset="0"/>
            </a:endParaRPr>
          </a:p>
        </p:txBody>
      </p:sp>
      <p:sp>
        <p:nvSpPr>
          <p:cNvPr id="7" name="Rectangle 2">
            <a:extLst>
              <a:ext uri="{FF2B5EF4-FFF2-40B4-BE49-F238E27FC236}">
                <a16:creationId xmlns:a16="http://schemas.microsoft.com/office/drawing/2014/main" id="{8524F423-86EB-8AA0-6BB0-C365357068C1}"/>
              </a:ext>
            </a:extLst>
          </p:cNvPr>
          <p:cNvSpPr>
            <a:spLocks noGrp="1" noChangeArrowheads="1"/>
          </p:cNvSpPr>
          <p:nvPr>
            <p:ph type="body" idx="1"/>
          </p:nvPr>
        </p:nvSpPr>
        <p:spPr bwMode="auto">
          <a:xfrm>
            <a:off x="812800" y="880601"/>
            <a:ext cx="10927508" cy="6855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mn-lt"/>
              </a:rPr>
              <a:t>[1] A. Esteva, B. </a:t>
            </a:r>
            <a:r>
              <a:rPr kumimoji="0" lang="en-US" altLang="en-US" sz="2200" i="0" u="none" strike="noStrike" cap="none" normalizeH="0" baseline="0" dirty="0" err="1">
                <a:ln>
                  <a:noFill/>
                </a:ln>
                <a:solidFill>
                  <a:schemeClr val="tx1"/>
                </a:solidFill>
                <a:effectLst/>
                <a:latin typeface="+mn-lt"/>
              </a:rPr>
              <a:t>Kuprel</a:t>
            </a:r>
            <a:r>
              <a:rPr kumimoji="0" lang="en-US" altLang="en-US" sz="2200" i="0" u="none" strike="noStrike" cap="none" normalizeH="0" baseline="0" dirty="0">
                <a:ln>
                  <a:noFill/>
                </a:ln>
                <a:solidFill>
                  <a:schemeClr val="tx1"/>
                </a:solidFill>
                <a:effectLst/>
                <a:latin typeface="+mn-lt"/>
              </a:rPr>
              <a:t>, R. A. Novoa, J. Ko, S. M. </a:t>
            </a:r>
            <a:r>
              <a:rPr kumimoji="0" lang="en-US" altLang="en-US" sz="2200" i="0" u="none" strike="noStrike" cap="none" normalizeH="0" baseline="0" dirty="0" err="1">
                <a:ln>
                  <a:noFill/>
                </a:ln>
                <a:solidFill>
                  <a:schemeClr val="tx1"/>
                </a:solidFill>
                <a:effectLst/>
                <a:latin typeface="+mn-lt"/>
              </a:rPr>
              <a:t>Swetter</a:t>
            </a:r>
            <a:r>
              <a:rPr kumimoji="0" lang="en-US" altLang="en-US" sz="2200" i="0" u="none" strike="noStrike" cap="none" normalizeH="0" baseline="0" dirty="0">
                <a:ln>
                  <a:noFill/>
                </a:ln>
                <a:solidFill>
                  <a:schemeClr val="tx1"/>
                </a:solidFill>
                <a:effectLst/>
                <a:latin typeface="+mn-lt"/>
              </a:rPr>
              <a:t>, H. M. Blau, and S. Thrun,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mn-lt"/>
              </a:rPr>
              <a:t>“Dermatologist-level classification of skin cancer with deep neural networks,” Nature, vol. 542, no. 7639, pp. 115–118, Feb. 2017.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mn-lt"/>
                <a:hlinkClick r:id="rId3"/>
              </a:rPr>
              <a:t>https://doi.org/10.1038/nature21056</a:t>
            </a:r>
            <a:endParaRPr kumimoji="0" lang="en-US" altLang="en-US" sz="220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mn-lt"/>
                <a:hlinkClick r:id="rId4"/>
              </a:rPr>
              <a:t>https://www.andreesteva.com/assets/nature_skincancer.pdf</a:t>
            </a:r>
            <a:endParaRPr kumimoji="0" lang="en-US" altLang="en-US" sz="220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200" dirty="0">
              <a:solidFill>
                <a:schemeClr val="tx1"/>
              </a:solidFill>
              <a:latin typeface="+mn-lt"/>
            </a:endParaRPr>
          </a:p>
          <a:p>
            <a:pPr marL="76200" indent="0">
              <a:buNone/>
            </a:pPr>
            <a:r>
              <a:rPr lang="en-US" sz="2200" dirty="0">
                <a:latin typeface="+mn-lt"/>
              </a:rPr>
              <a:t>[2] P. </a:t>
            </a:r>
            <a:r>
              <a:rPr lang="en-US" sz="2200" dirty="0" err="1">
                <a:latin typeface="+mn-lt"/>
              </a:rPr>
              <a:t>Tschandl</a:t>
            </a:r>
            <a:r>
              <a:rPr lang="en-US" sz="2200" dirty="0">
                <a:latin typeface="+mn-lt"/>
              </a:rPr>
              <a:t>, C. Rosendahl, and H. Kittler, “The HAM10000 dataset, a large collection of multi-source </a:t>
            </a:r>
            <a:r>
              <a:rPr lang="en-US" sz="2200" dirty="0" err="1">
                <a:latin typeface="+mn-lt"/>
              </a:rPr>
              <a:t>dermatoscopic</a:t>
            </a:r>
            <a:r>
              <a:rPr lang="en-US" sz="2200" dirty="0">
                <a:latin typeface="+mn-lt"/>
              </a:rPr>
              <a:t> images of common pigmented skin lesions,” </a:t>
            </a:r>
            <a:r>
              <a:rPr lang="en-US" sz="2200" i="1" dirty="0">
                <a:latin typeface="+mn-lt"/>
              </a:rPr>
              <a:t>Scientific Data</a:t>
            </a:r>
            <a:r>
              <a:rPr lang="en-US" sz="2200" dirty="0">
                <a:latin typeface="+mn-lt"/>
              </a:rPr>
              <a:t>, vol. 5, p. 180161, 2018.  </a:t>
            </a:r>
          </a:p>
          <a:p>
            <a:pPr marL="76200" indent="0">
              <a:buNone/>
            </a:pPr>
            <a:r>
              <a:rPr lang="en-US" sz="2200" dirty="0">
                <a:latin typeface="+mn-lt"/>
                <a:hlinkClick r:id="rId5"/>
              </a:rPr>
              <a:t>https://www.nature.com/articles/sdata2018161</a:t>
            </a:r>
            <a:endParaRPr lang="en-US" sz="2200" dirty="0">
              <a:latin typeface="+mn-lt"/>
            </a:endParaRPr>
          </a:p>
          <a:p>
            <a:pPr marL="76200" indent="0">
              <a:buNone/>
            </a:pPr>
            <a:endParaRPr lang="en-US" sz="2200" dirty="0">
              <a:latin typeface="+mn-lt"/>
            </a:endParaRPr>
          </a:p>
          <a:p>
            <a:pPr marL="76200" indent="0">
              <a:buNone/>
            </a:pPr>
            <a:r>
              <a:rPr lang="en-US" sz="2200" dirty="0">
                <a:latin typeface="+mn-lt"/>
              </a:rPr>
              <a:t>[3] Balazs Harangi , “Skin lesion classification with ensembles of deep convolutional neural networks,”  Journal of Biomedical Informatics, vol 86, pg.25-32, Oct 2018.</a:t>
            </a:r>
            <a:r>
              <a:rPr lang="en-IN" sz="2200" dirty="0">
                <a:latin typeface="+mn-lt"/>
                <a:hlinkClick r:id="rId6" tooltip="Persistent link using digital object identifier"/>
              </a:rPr>
              <a:t> </a:t>
            </a:r>
          </a:p>
          <a:p>
            <a:pPr marL="76200" indent="0">
              <a:buNone/>
            </a:pPr>
            <a:r>
              <a:rPr lang="en-IN" sz="2200" dirty="0">
                <a:latin typeface="+mn-lt"/>
                <a:hlinkClick r:id="rId6" tooltip="Persistent link using digital object identifier"/>
              </a:rPr>
              <a:t>https://doi.org/10.1016/j.jbi.2018.08.006</a:t>
            </a:r>
            <a:br>
              <a:rPr lang="en-US" sz="2200" dirty="0">
                <a:latin typeface="+mn-lt"/>
              </a:rPr>
            </a:br>
            <a:endParaRPr lang="en-US" sz="2200" dirty="0">
              <a:latin typeface="+mn-lt"/>
            </a:endParaRPr>
          </a:p>
          <a:p>
            <a:pPr marL="76200" indent="0">
              <a:buNone/>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76200" indent="0">
              <a:buNone/>
            </a:pPr>
            <a:endParaRPr lang="en-US" altLang="en-US" sz="1800" dirty="0">
              <a:solidFill>
                <a:schemeClr val="tx1"/>
              </a:solidFill>
              <a:latin typeface="Arial" panose="020B0604020202020204" pitchFamily="34" charset="0"/>
            </a:endParaRPr>
          </a:p>
          <a:p>
            <a:pPr marL="76200" indent="0">
              <a:buNone/>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76200" indent="0">
              <a:buNone/>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529</TotalTime>
  <Words>1371</Words>
  <Application>Microsoft Office PowerPoint</Application>
  <PresentationFormat>Widescreen</PresentationFormat>
  <Paragraphs>70</Paragraphs>
  <Slides>13</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vt:lpstr>
      <vt:lpstr>Verdana</vt:lpstr>
      <vt:lpstr>Wingdings</vt:lpstr>
      <vt:lpstr>Bioinformatics</vt:lpstr>
      <vt:lpstr>AI-Based Tool for Preliminary Diagnosis of Dermatological Manifestations</vt:lpstr>
      <vt:lpstr>Problem Description </vt:lpstr>
      <vt:lpstr> Problem Statement_PSCS_49 </vt:lpstr>
      <vt:lpstr>Objectives </vt:lpstr>
      <vt:lpstr>Background and Related work for title Selection </vt:lpstr>
      <vt:lpstr>Proposed Methodology</vt:lpstr>
      <vt:lpstr>Innovation or Novel Contribution</vt:lpstr>
      <vt:lpstr>Analysis of Problem Statement </vt:lpstr>
      <vt:lpstr>Analysis of Problem Statement </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karthik mp</cp:lastModifiedBy>
  <cp:revision>45</cp:revision>
  <dcterms:modified xsi:type="dcterms:W3CDTF">2025-08-19T17:06:19Z</dcterms:modified>
</cp:coreProperties>
</file>