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bookmarkIdSeed="2">
  <p:sldMasterIdLst>
    <p:sldMasterId id="2147483659" r:id="rId1"/>
  </p:sldMasterIdLst>
  <p:notesMasterIdLst>
    <p:notesMasterId r:id="rId26"/>
  </p:notesMasterIdLst>
  <p:sldIdLst>
    <p:sldId id="256" r:id="rId2"/>
    <p:sldId id="269" r:id="rId3"/>
    <p:sldId id="288" r:id="rId4"/>
    <p:sldId id="257" r:id="rId5"/>
    <p:sldId id="281" r:id="rId6"/>
    <p:sldId id="285" r:id="rId7"/>
    <p:sldId id="286" r:id="rId8"/>
    <p:sldId id="287" r:id="rId9"/>
    <p:sldId id="280" r:id="rId10"/>
    <p:sldId id="275" r:id="rId11"/>
    <p:sldId id="276" r:id="rId12"/>
    <p:sldId id="277" r:id="rId13"/>
    <p:sldId id="278" r:id="rId14"/>
    <p:sldId id="282" r:id="rId15"/>
    <p:sldId id="284" r:id="rId16"/>
    <p:sldId id="283" r:id="rId17"/>
    <p:sldId id="272" r:id="rId18"/>
    <p:sldId id="279" r:id="rId19"/>
    <p:sldId id="268" r:id="rId20"/>
    <p:sldId id="270" r:id="rId21"/>
    <p:sldId id="265" r:id="rId22"/>
    <p:sldId id="289" r:id="rId23"/>
    <p:sldId id="290"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tu-Affan/Capstone-Project/tree/mai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38/nature21056"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oi.org/10.1016/j.jbi.2018.08.006" TargetMode="External"/><Relationship Id="rId5" Type="http://schemas.openxmlformats.org/officeDocument/2006/relationships/hyperlink" Target="https://www.nature.com/articles/sdata2018161" TargetMode="External"/><Relationship Id="rId4" Type="http://schemas.openxmlformats.org/officeDocument/2006/relationships/hyperlink" Target="https://www.andreesteva.com/assets/nature_skincancer.pdf"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j.compbiomed.2019.103545" TargetMode="External"/><Relationship Id="rId2" Type="http://schemas.openxmlformats.org/officeDocument/2006/relationships/hyperlink" Target="https://www.nature.com/articles/s41598-025-90418-0" TargetMode="External"/><Relationship Id="rId1" Type="http://schemas.openxmlformats.org/officeDocument/2006/relationships/slideLayout" Target="../slideLayouts/slideLayout2.xml"/><Relationship Id="rId5" Type="http://schemas.openxmlformats.org/officeDocument/2006/relationships/hyperlink" Target="https://doi.org/10.1109/ACCESS.2020.2967488" TargetMode="External"/><Relationship Id="rId4" Type="http://schemas.openxmlformats.org/officeDocument/2006/relationships/hyperlink" Target="https://arxiv.org/abs/2407.14757"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3390/diagnostics10121092" TargetMode="External"/><Relationship Id="rId2" Type="http://schemas.openxmlformats.org/officeDocument/2006/relationships/hyperlink" Target="https://doi.org/10.1016/j.patrec.2020.12.005" TargetMode="External"/><Relationship Id="rId1" Type="http://schemas.openxmlformats.org/officeDocument/2006/relationships/slideLayout" Target="../slideLayouts/slideLayout2.xml"/><Relationship Id="rId4" Type="http://schemas.openxmlformats.org/officeDocument/2006/relationships/hyperlink" Target="https://doi.org/10.1038/s41746-021-00492-0"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i="1" dirty="0">
                <a:latin typeface="+mj-lt"/>
              </a:rPr>
              <a:t>AI-Based Tool for Preliminary Diagnosis of Dermatological Manifestations</a:t>
            </a:r>
            <a:endParaRPr dirty="0">
              <a:solidFill>
                <a:schemeClr val="tx1"/>
              </a:solidFill>
              <a:latin typeface="+mj-lt"/>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mj-lt"/>
                <a:ea typeface="Cambria" panose="02040503050406030204" pitchFamily="18" charset="0"/>
              </a:rPr>
              <a:t>Batch Number : CSG_16</a:t>
            </a:r>
            <a:endParaRPr dirty="0">
              <a:latin typeface="+mj-lt"/>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Under the Supervision of,</a:t>
            </a:r>
            <a:endParaRPr sz="1800" b="1" i="0" u="none" strike="noStrike" cap="none" dirty="0">
              <a:solidFill>
                <a:srgbClr val="17365D"/>
              </a:solidFill>
              <a:latin typeface="+mj-lt"/>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Dr. Harish Kumar K.S</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Assistant Professor</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School of Computer Science and Engineering</a:t>
            </a:r>
            <a:endParaRPr sz="1800" dirty="0">
              <a:latin typeface="+mj-lt"/>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800" b="1" i="0" u="none" strike="noStrike" cap="none" dirty="0">
                <a:solidFill>
                  <a:srgbClr val="17365D"/>
                </a:solidFill>
                <a:latin typeface="+mj-lt"/>
                <a:ea typeface="Cambria" panose="02040503050406030204" pitchFamily="18" charset="0"/>
                <a:cs typeface="Verdana"/>
                <a:sym typeface="Verdana"/>
              </a:rPr>
              <a:t>Presidency University</a:t>
            </a:r>
            <a:endParaRPr sz="1800" dirty="0">
              <a:latin typeface="+mj-lt"/>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704089366"/>
              </p:ext>
            </p:extLst>
          </p:nvPr>
        </p:nvGraphicFramePr>
        <p:xfrm>
          <a:off x="553347" y="2721840"/>
          <a:ext cx="5418675" cy="222510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22695">
                <a:tc>
                  <a:txBody>
                    <a:bodyPr/>
                    <a:lstStyle/>
                    <a:p>
                      <a:pPr marL="0" marR="0" lvl="1" indent="0" algn="ctr" rtl="0">
                        <a:spcBef>
                          <a:spcPts val="0"/>
                        </a:spcBef>
                        <a:spcAft>
                          <a:spcPts val="0"/>
                        </a:spcAft>
                        <a:buNone/>
                      </a:pPr>
                      <a:r>
                        <a:rPr lang="en-GB" sz="2000" b="1" u="none" strike="noStrike" cap="none" dirty="0">
                          <a:solidFill>
                            <a:srgbClr val="17365D"/>
                          </a:solidFill>
                          <a:latin typeface="+mj-lt"/>
                        </a:rPr>
                        <a:t>Roll Number</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mj-lt"/>
                        </a:rPr>
                        <a:t>Student Name</a:t>
                      </a:r>
                      <a:endParaRPr sz="2000" b="1" u="none" strike="noStrike" cap="none" dirty="0">
                        <a:solidFill>
                          <a:srgbClr val="17365D"/>
                        </a:solidFill>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97873">
                <a:tc>
                  <a:txBody>
                    <a:bodyPr/>
                    <a:lstStyle/>
                    <a:p>
                      <a:pPr marL="0" marR="0" lvl="0" indent="0" algn="ctr" rtl="0">
                        <a:spcBef>
                          <a:spcPts val="0"/>
                        </a:spcBef>
                        <a:spcAft>
                          <a:spcPts val="0"/>
                        </a:spcAft>
                        <a:buFont typeface="+mj-lt"/>
                        <a:buNone/>
                      </a:pPr>
                      <a:r>
                        <a:rPr lang="en-US" sz="1800" b="0" u="none" strike="noStrike" cap="none" dirty="0">
                          <a:latin typeface="+mj-lt"/>
                        </a:rPr>
                        <a:t>20221CSG0020</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S MOHAMMED AFFAN</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7873">
                <a:tc>
                  <a:txBody>
                    <a:bodyPr/>
                    <a:lstStyle/>
                    <a:p>
                      <a:pPr marL="0" marR="0" lvl="0" indent="0" algn="ctr" rtl="0">
                        <a:spcBef>
                          <a:spcPts val="0"/>
                        </a:spcBef>
                        <a:spcAft>
                          <a:spcPts val="0"/>
                        </a:spcAft>
                        <a:buNone/>
                      </a:pPr>
                      <a:r>
                        <a:rPr lang="en-US" sz="1800" b="0" u="none" strike="noStrike" cap="none" dirty="0">
                          <a:latin typeface="+mj-lt"/>
                        </a:rPr>
                        <a:t>20221CSG0059</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KARTHIK MP</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7873">
                <a:tc>
                  <a:txBody>
                    <a:bodyPr/>
                    <a:lstStyle/>
                    <a:p>
                      <a:pPr marL="0" marR="0" lvl="0" indent="0" algn="ctr" rtl="0">
                        <a:spcBef>
                          <a:spcPts val="0"/>
                        </a:spcBef>
                        <a:spcAft>
                          <a:spcPts val="0"/>
                        </a:spcAft>
                        <a:buNone/>
                      </a:pPr>
                      <a:r>
                        <a:rPr lang="en-US" sz="1800" b="0" u="none" strike="noStrike" cap="none" dirty="0">
                          <a:latin typeface="+mj-lt"/>
                        </a:rPr>
                        <a:t>20221CSG0092</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0" u="none" strike="noStrike" cap="none" dirty="0">
                          <a:latin typeface="+mj-lt"/>
                        </a:rPr>
                        <a:t>CHAITHRA C</a:t>
                      </a: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97873">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b="0" u="none" strike="noStrike" cap="none" dirty="0">
                        <a:latin typeface="+mj-lt"/>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45266"/>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Verdana" panose="020B0604030504040204" pitchFamily="34" charset="0"/>
                <a:ea typeface="Verdana" panose="020B0604030504040204" pitchFamily="34" charset="0"/>
                <a:cs typeface="Verdana"/>
                <a:sym typeface="Verdana"/>
              </a:rPr>
              <a:t>CSE7101-</a:t>
            </a: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 Capstone Project</a:t>
            </a:r>
            <a:endParaRPr sz="2400" dirty="0">
              <a:latin typeface="Verdana" panose="020B0604030504040204" pitchFamily="34" charset="0"/>
              <a:ea typeface="Verdana" panose="020B0604030504040204" pitchFamily="34"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Verdana" panose="020B0604030504040204" pitchFamily="34" charset="0"/>
                <a:ea typeface="Verdana" panose="020B0604030504040204" pitchFamily="34" charset="0"/>
                <a:cs typeface="Verdana"/>
                <a:sym typeface="Verdana"/>
              </a:rPr>
              <a:t>Review-2</a:t>
            </a:r>
            <a:endParaRPr sz="2400" b="1" i="0" u="none" strike="noStrike" cap="none" dirty="0">
              <a:solidFill>
                <a:srgbClr val="17365D"/>
              </a:solidFill>
              <a:latin typeface="Verdana" panose="020B0604030504040204" pitchFamily="34" charset="0"/>
              <a:ea typeface="Verdana" panose="020B0604030504040204" pitchFamily="34" charset="0"/>
              <a:cs typeface="Verdana"/>
              <a:sym typeface="Verdana"/>
            </a:endParaRPr>
          </a:p>
        </p:txBody>
      </p:sp>
      <p:sp>
        <p:nvSpPr>
          <p:cNvPr id="8" name="Google Shape;91;p13"/>
          <p:cNvSpPr txBox="1"/>
          <p:nvPr/>
        </p:nvSpPr>
        <p:spPr>
          <a:xfrm>
            <a:off x="2540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a:t>
            </a:r>
            <a:r>
              <a:rPr lang="en-IN" sz="1800" b="1" dirty="0">
                <a:latin typeface="+mj-lt"/>
              </a:rPr>
              <a:t>CSG-Computer Science &amp; Technology(AI ML)</a:t>
            </a:r>
            <a:endParaRPr lang="en-US" sz="1800" b="1" i="0" u="none" strike="noStrike" cap="none" dirty="0">
              <a:solidFill>
                <a:schemeClr val="accent1"/>
              </a:solidFill>
              <a:latin typeface="+mj-lt"/>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HoD: </a:t>
            </a:r>
            <a:r>
              <a:rPr lang="en-IN" sz="1800" b="1" dirty="0">
                <a:latin typeface="+mj-lt"/>
              </a:rPr>
              <a:t>Dr.Saira Banu</a:t>
            </a:r>
          </a:p>
          <a:p>
            <a:pPr lvl="0">
              <a:buClr>
                <a:srgbClr val="17365D"/>
              </a:buClr>
              <a:buSzPct val="100000"/>
            </a:pPr>
            <a:r>
              <a:rPr lang="en-US" sz="1800" b="1" i="0" u="none" strike="noStrike" cap="none" dirty="0">
                <a:solidFill>
                  <a:schemeClr val="accent1"/>
                </a:solidFill>
                <a:latin typeface="+mj-lt"/>
                <a:ea typeface="Cambria" panose="02040503050406030204" pitchFamily="18" charset="0"/>
                <a:cs typeface="Verdana"/>
                <a:sym typeface="Verdana"/>
              </a:rPr>
              <a:t>Name of the Program Project Coordinator: </a:t>
            </a:r>
            <a:r>
              <a:rPr lang="en-IN" sz="1800" b="1" dirty="0">
                <a:latin typeface="+mj-lt"/>
              </a:rPr>
              <a:t>Dr. H M Manjula</a:t>
            </a:r>
            <a:endParaRPr lang="en-US" sz="1800" b="1" dirty="0">
              <a:solidFill>
                <a:srgbClr val="FF0000"/>
              </a:solidFill>
              <a:latin typeface="+mj-lt"/>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mj-lt"/>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mj-lt"/>
                <a:ea typeface="Cambria" panose="02040503050406030204" pitchFamily="18" charset="0"/>
                <a:cs typeface="Verdana"/>
                <a:sym typeface="Verdana"/>
              </a:rPr>
              <a:t>Dr. Sampath A K , Dr. Geetha A </a:t>
            </a:r>
            <a:endParaRPr sz="1800" b="1" i="0" u="none" strike="noStrike" cap="none" dirty="0">
              <a:solidFill>
                <a:schemeClr val="tx1"/>
              </a:solidFill>
              <a:latin typeface="+mj-lt"/>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390977"/>
            <a:ext cx="10668000" cy="487500"/>
          </a:xfrm>
          <a:prstGeom prst="rect">
            <a:avLst/>
          </a:prstGeom>
          <a:noFill/>
          <a:ln>
            <a:noFill/>
          </a:ln>
        </p:spPr>
        <p:txBody>
          <a:bodyPr spcFirstLastPara="1" wrap="square" lIns="91425" tIns="45700" rIns="91425" bIns="45700" anchor="ctr" anchorCtr="0">
            <a:noAutofit/>
          </a:bodyPr>
          <a:lstStyle/>
          <a:p>
            <a:r>
              <a:rPr lang="en-US" dirty="0">
                <a:latin typeface="Verdana" panose="020B0604030504040204" pitchFamily="34" charset="0"/>
                <a:ea typeface="Verdana" panose="020B0604030504040204" pitchFamily="34" charset="0"/>
              </a:rPr>
              <a:t>Abstract</a:t>
            </a:r>
          </a:p>
        </p:txBody>
      </p:sp>
      <p:sp>
        <p:nvSpPr>
          <p:cNvPr id="97" name="Google Shape;97;p14"/>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76200" indent="0">
              <a:buNone/>
            </a:pPr>
            <a:r>
              <a:rPr lang="en-US" sz="2200" dirty="0">
                <a:latin typeface="+mn-lt"/>
              </a:rPr>
              <a:t>Skin diseases constitute a major global health burden, affecting millions of people annually and ranging from minor infections to severe cancers. Delayed diagnosis often leads to complications due to limited access to dermatologists, uneven distribution of specialists, and increasing patient loads. This project addresses the challenge by developing an AI-based tool for preliminary diagnosis of dermatological manifestations. The proposed system leverages deep learning, particularly Convolutional Neural Networks (CNNs) with transfer learning, to analyze skin lesion images and provide probable diagnoses with confidence scores and visual explanations. The key objectives are to enable early detection, risk prioritization, and timely referral, while serving as a decision-support system rather than a replacement for dermatologists. By combining automated image analysis with explainability features, the approach aims to improve accessibility, enhance clinical workflows, and reduce the burden on healthcare systems.</a:t>
            </a:r>
            <a:endParaRPr lang="en-US" sz="2200" dirty="0">
              <a:latin typeface="+mn-lt"/>
              <a:ea typeface="Verdana" panose="020B0604030504040204" pitchFamily="34"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5397-AE58-98FC-1FC4-DBEC4E14E5B0}"/>
              </a:ext>
            </a:extLst>
          </p:cNvPr>
          <p:cNvSpPr>
            <a:spLocks noGrp="1"/>
          </p:cNvSpPr>
          <p:nvPr>
            <p:ph type="title"/>
          </p:nvPr>
        </p:nvSpPr>
        <p:spPr/>
        <p:txBody>
          <a:bodyPr/>
          <a:lstStyle/>
          <a:p>
            <a:r>
              <a:rPr lang="en-IN" dirty="0"/>
              <a:t>Literature Survey (10 papers)</a:t>
            </a:r>
          </a:p>
        </p:txBody>
      </p:sp>
      <p:sp>
        <p:nvSpPr>
          <p:cNvPr id="4" name="Rectangle 1">
            <a:extLst>
              <a:ext uri="{FF2B5EF4-FFF2-40B4-BE49-F238E27FC236}">
                <a16:creationId xmlns:a16="http://schemas.microsoft.com/office/drawing/2014/main" id="{75084421-3D15-80BE-817A-4F087AEBE055}"/>
              </a:ext>
            </a:extLst>
          </p:cNvPr>
          <p:cNvSpPr>
            <a:spLocks noGrp="1" noChangeArrowheads="1"/>
          </p:cNvSpPr>
          <p:nvPr>
            <p:ph type="body" idx="1"/>
          </p:nvPr>
        </p:nvSpPr>
        <p:spPr bwMode="auto">
          <a:xfrm>
            <a:off x="812800" y="855219"/>
            <a:ext cx="10668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Esteva et al. (2017)</a:t>
            </a:r>
            <a:r>
              <a:rPr kumimoji="0" lang="en-US" altLang="en-US" sz="1800" b="0" i="0" u="none" strike="noStrike" cap="none" normalizeH="0" baseline="0" dirty="0">
                <a:ln>
                  <a:noFill/>
                </a:ln>
                <a:solidFill>
                  <a:schemeClr val="tx1"/>
                </a:solidFill>
                <a:effectLst/>
                <a:latin typeface="+mn-lt"/>
              </a:rPr>
              <a:t> demonstrated dermatologist-level accuracy of CNNs in skin cancer classification.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Tschandl et al. (2018)</a:t>
            </a:r>
            <a:r>
              <a:rPr kumimoji="0" lang="en-US" altLang="en-US" sz="1800" b="0" i="0" u="none" strike="noStrike" cap="none" normalizeH="0" baseline="0" dirty="0">
                <a:ln>
                  <a:noFill/>
                </a:ln>
                <a:solidFill>
                  <a:schemeClr val="tx1"/>
                </a:solidFill>
                <a:effectLst/>
                <a:latin typeface="+mn-lt"/>
              </a:rPr>
              <a:t> introduced the HAM10000 dataset, providing a large multi-source collection of dermatoscopic images for skin lesion analysis.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Harangi (2018)</a:t>
            </a:r>
            <a:r>
              <a:rPr kumimoji="0" lang="en-US" altLang="en-US" sz="1800" b="0" i="0" u="none" strike="noStrike" cap="none" normalizeH="0" baseline="0" dirty="0">
                <a:ln>
                  <a:noFill/>
                </a:ln>
                <a:solidFill>
                  <a:schemeClr val="tx1"/>
                </a:solidFill>
                <a:effectLst/>
                <a:latin typeface="+mn-lt"/>
              </a:rPr>
              <a:t> showed that ensemble CNN models improve skin lesion classification accuracy and robustness.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Liu et al. (2025)</a:t>
            </a:r>
            <a:r>
              <a:rPr kumimoji="0" lang="en-US" altLang="en-US" sz="1800" b="0" i="0" u="none" strike="noStrike" cap="none" normalizeH="0" baseline="0" dirty="0">
                <a:ln>
                  <a:noFill/>
                </a:ln>
                <a:solidFill>
                  <a:schemeClr val="tx1"/>
                </a:solidFill>
                <a:effectLst/>
                <a:latin typeface="+mn-lt"/>
              </a:rPr>
              <a:t> proposed a multi-scale attention-based CNN achieving improved performance for general skin disease classification.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Pacheco &amp; Krohling (2020)</a:t>
            </a:r>
            <a:r>
              <a:rPr kumimoji="0" lang="en-US" altLang="en-US" sz="1800" b="0" i="0" u="none" strike="noStrike" cap="none" normalizeH="0" baseline="0" dirty="0">
                <a:ln>
                  <a:noFill/>
                </a:ln>
                <a:solidFill>
                  <a:schemeClr val="tx1"/>
                </a:solidFill>
                <a:effectLst/>
                <a:latin typeface="+mn-lt"/>
              </a:rPr>
              <a:t> highlighted that integrating patient clinical information enhances automated skin cancer detection.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Mohan et al. (2024)</a:t>
            </a:r>
            <a:r>
              <a:rPr kumimoji="0" lang="en-US" altLang="en-US" sz="1800" b="0" i="0" u="none" strike="noStrike" cap="none" normalizeH="0" baseline="0" dirty="0">
                <a:ln>
                  <a:noFill/>
                </a:ln>
                <a:solidFill>
                  <a:schemeClr val="tx1"/>
                </a:solidFill>
                <a:effectLst/>
                <a:latin typeface="+mn-lt"/>
              </a:rPr>
              <a:t> demonstrated that transformer-based models with explainable AI achieve high accuracy and interpretability in skin disease classification.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Han et al. (2020)</a:t>
            </a:r>
            <a:r>
              <a:rPr kumimoji="0" lang="en-US" altLang="en-US" sz="1800" b="0" i="0" u="none" strike="noStrike" cap="none" normalizeH="0" baseline="0" dirty="0">
                <a:ln>
                  <a:noFill/>
                </a:ln>
                <a:solidFill>
                  <a:schemeClr val="tx1"/>
                </a:solidFill>
                <a:effectLst/>
                <a:latin typeface="+mn-lt"/>
              </a:rPr>
              <a:t> confirmed that ensemble deep learning methods boost skin lesion classification accuracy.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Xie et al. (2021)</a:t>
            </a:r>
            <a:r>
              <a:rPr kumimoji="0" lang="en-US" altLang="en-US" sz="1800" b="0" i="0" u="none" strike="noStrike" cap="none" normalizeH="0" baseline="0" dirty="0">
                <a:ln>
                  <a:noFill/>
                </a:ln>
                <a:solidFill>
                  <a:schemeClr val="tx1"/>
                </a:solidFill>
                <a:effectLst/>
                <a:latin typeface="+mn-lt"/>
              </a:rPr>
              <a:t> developed a lightweight CNN suitable for mobile-based skin disease diagnosis.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Goyal et al. (2020)</a:t>
            </a:r>
            <a:r>
              <a:rPr kumimoji="0" lang="en-US" altLang="en-US" sz="1800" b="0" i="0" u="none" strike="noStrike" cap="none" normalizeH="0" baseline="0" dirty="0">
                <a:ln>
                  <a:noFill/>
                </a:ln>
                <a:solidFill>
                  <a:schemeClr val="tx1"/>
                </a:solidFill>
                <a:effectLst/>
                <a:latin typeface="+mn-lt"/>
              </a:rPr>
              <a:t> applied Grad-CAM to provide explainable visualizations for CNN-based skin lesion classification.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mn-lt"/>
              </a:rPr>
              <a:t>Yu et al. (2021)</a:t>
            </a:r>
            <a:r>
              <a:rPr kumimoji="0" lang="en-US" altLang="en-US" sz="1800" b="0" i="0" u="none" strike="noStrike" cap="none" normalizeH="0" baseline="0" dirty="0">
                <a:ln>
                  <a:noFill/>
                </a:ln>
                <a:solidFill>
                  <a:schemeClr val="tx1"/>
                </a:solidFill>
                <a:effectLst/>
                <a:latin typeface="+mn-lt"/>
              </a:rPr>
              <a:t> evaluated fairness of AI dermatology models across skin tones, identifying potential biases in predictions.</a:t>
            </a:r>
          </a:p>
        </p:txBody>
      </p:sp>
    </p:spTree>
    <p:extLst>
      <p:ext uri="{BB962C8B-B14F-4D97-AF65-F5344CB8AC3E}">
        <p14:creationId xmlns:p14="http://schemas.microsoft.com/office/powerpoint/2010/main" val="346472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68218" y="0"/>
            <a:ext cx="10825018" cy="1081551"/>
          </a:xfrm>
          <a:prstGeom prst="rect">
            <a:avLst/>
          </a:prstGeom>
          <a:noFill/>
          <a:ln>
            <a:noFill/>
          </a:ln>
        </p:spPr>
        <p:txBody>
          <a:bodyPr spcFirstLastPara="1" wrap="square" lIns="91425" tIns="45700" rIns="91425" bIns="45700" anchor="ctr" anchorCtr="0">
            <a:noAutofit/>
          </a:bodyPr>
          <a:lstStyle/>
          <a:p>
            <a:r>
              <a:rPr lang="en-IN" dirty="0">
                <a:latin typeface="+mj-lt"/>
              </a:rPr>
              <a:t>Literature</a:t>
            </a:r>
            <a:r>
              <a:rPr lang="en-IN" dirty="0"/>
              <a:t> Survey</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976045"/>
            <a:ext cx="10668000" cy="5065159"/>
          </a:xfrm>
          <a:prstGeom prst="rect">
            <a:avLst/>
          </a:prstGeom>
          <a:noFill/>
          <a:ln>
            <a:noFill/>
          </a:ln>
        </p:spPr>
        <p:txBody>
          <a:bodyPr spcFirstLastPara="1" wrap="square" lIns="91425" tIns="45700" rIns="91425" bIns="45700" anchor="t" anchorCtr="0">
            <a:noAutofit/>
          </a:bodyPr>
          <a:lstStyle/>
          <a:p>
            <a:pPr marL="76200" indent="0">
              <a:buNone/>
            </a:pPr>
            <a:r>
              <a:rPr lang="en-US" sz="1720" b="1" dirty="0">
                <a:latin typeface="+mn-lt"/>
              </a:rPr>
              <a:t>1. Esteva et al. (2017) – Dermatologist-Level Classification of Skin Cancer with Deep Neural Networks</a:t>
            </a:r>
          </a:p>
          <a:p>
            <a:r>
              <a:rPr lang="en-US" sz="1720" b="1" dirty="0">
                <a:latin typeface="+mn-lt"/>
              </a:rPr>
              <a:t>Summary</a:t>
            </a:r>
            <a:r>
              <a:rPr lang="en-US" sz="1720" dirty="0">
                <a:latin typeface="+mn-lt"/>
              </a:rPr>
              <a:t>: This pioneering study demonstrated that deep neural networks could classify skin cancer images at a level comparable to dermatologists. The model was trained on a dataset of over 130,000 images, covering 2,032 different diseases.</a:t>
            </a:r>
          </a:p>
          <a:p>
            <a:r>
              <a:rPr lang="en-US" sz="1720" b="1" dirty="0">
                <a:latin typeface="+mn-lt"/>
              </a:rPr>
              <a:t>Strengths</a:t>
            </a:r>
            <a:r>
              <a:rPr lang="en-US" sz="1720" dirty="0">
                <a:latin typeface="+mn-lt"/>
              </a:rPr>
              <a:t>: The large-scale dataset and the use of a deep convolutional neural network (CNN) architecture contributed to the model's high accuracy.</a:t>
            </a:r>
          </a:p>
          <a:p>
            <a:r>
              <a:rPr lang="en-US" sz="1720" b="1" dirty="0">
                <a:latin typeface="+mn-lt"/>
              </a:rPr>
              <a:t>Limitations</a:t>
            </a:r>
            <a:r>
              <a:rPr lang="en-US" sz="1720" dirty="0">
                <a:latin typeface="+mn-lt"/>
              </a:rPr>
              <a:t>: The study primarily focused on melanoma and did not extensively cover other skin diseases. Additionally, the interpretability of the model was limited, which is crucial for clinical adoption.</a:t>
            </a:r>
          </a:p>
          <a:p>
            <a:pPr marL="76200" indent="0">
              <a:buNone/>
            </a:pPr>
            <a:r>
              <a:rPr lang="en-US" sz="1720" b="1" dirty="0">
                <a:latin typeface="+mn-lt"/>
              </a:rPr>
              <a:t>2. Tschandl et al. (2018) – The HAM10000 Dataset</a:t>
            </a:r>
          </a:p>
          <a:p>
            <a:r>
              <a:rPr lang="en-US" sz="1720" b="1" dirty="0">
                <a:latin typeface="+mn-lt"/>
              </a:rPr>
              <a:t>Summary</a:t>
            </a:r>
            <a:r>
              <a:rPr lang="en-US" sz="1720" dirty="0">
                <a:latin typeface="+mn-lt"/>
              </a:rPr>
              <a:t>: This paper introduced the HAM10000 dataset, a large collection of multi-source dermatoscopic images of common pigmented skin lesions, facilitating the development and benchmarking of skin lesion classification models.</a:t>
            </a:r>
          </a:p>
          <a:p>
            <a:r>
              <a:rPr lang="en-US" sz="1720" b="1" dirty="0">
                <a:latin typeface="+mn-lt"/>
              </a:rPr>
              <a:t>Strengths</a:t>
            </a:r>
            <a:r>
              <a:rPr lang="en-US" sz="1720" dirty="0">
                <a:latin typeface="+mn-lt"/>
              </a:rPr>
              <a:t>: The dataset's diversity and size have made it a valuable resource for training and evaluating models.</a:t>
            </a:r>
          </a:p>
          <a:p>
            <a:r>
              <a:rPr lang="en-US" sz="1720" b="1" dirty="0">
                <a:latin typeface="+mn-lt"/>
              </a:rPr>
              <a:t>Limitations</a:t>
            </a:r>
            <a:r>
              <a:rPr lang="en-US" sz="1720" dirty="0">
                <a:latin typeface="+mn-lt"/>
              </a:rPr>
              <a:t>: While extensive, the dataset may not encompass all skin conditions, potentially limiting the generalizability of models trained solely on it.</a:t>
            </a:r>
          </a:p>
          <a:p>
            <a:pPr marL="152400" lvl="0" indent="0" algn="just" rtl="0">
              <a:lnSpc>
                <a:spcPct val="200000"/>
              </a:lnSpc>
              <a:spcBef>
                <a:spcPts val="0"/>
              </a:spcBef>
              <a:spcAft>
                <a:spcPts val="0"/>
              </a:spcAft>
              <a:buClr>
                <a:schemeClr val="dk1"/>
              </a:buClr>
              <a:buSzPts val="2400"/>
              <a:buNone/>
            </a:pPr>
            <a:endParaRPr sz="1720" dirty="0">
              <a:latin typeface="+mn-lt"/>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7610-3E2E-1939-A042-E9B7B85181EA}"/>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014A11E4-5880-DD1E-7E66-A88D0BB68E7D}"/>
              </a:ext>
            </a:extLst>
          </p:cNvPr>
          <p:cNvSpPr>
            <a:spLocks noGrp="1"/>
          </p:cNvSpPr>
          <p:nvPr>
            <p:ph type="body" idx="1"/>
          </p:nvPr>
        </p:nvSpPr>
        <p:spPr>
          <a:xfrm>
            <a:off x="812800" y="952500"/>
            <a:ext cx="10668000" cy="4953000"/>
          </a:xfrm>
        </p:spPr>
        <p:txBody>
          <a:bodyPr>
            <a:noAutofit/>
          </a:bodyPr>
          <a:lstStyle/>
          <a:p>
            <a:pPr marL="76200" indent="0">
              <a:buNone/>
            </a:pPr>
            <a:r>
              <a:rPr lang="en-US" sz="1800" b="1" dirty="0">
                <a:latin typeface="+mn-lt"/>
              </a:rPr>
              <a:t>3. Harangi (2018) – Skin Lesion Classification with Ensembles of Deep Convolutional Neural Networks</a:t>
            </a:r>
          </a:p>
          <a:p>
            <a:r>
              <a:rPr lang="en-US" sz="1800" b="1" dirty="0">
                <a:latin typeface="+mn-lt"/>
              </a:rPr>
              <a:t>Summary</a:t>
            </a:r>
            <a:r>
              <a:rPr lang="en-US" sz="1800" dirty="0">
                <a:latin typeface="+mn-lt"/>
              </a:rPr>
              <a:t>: This study explored the use of ensemble learning techniques to improve the performance of skin lesion classification models. By combining multiple CNNs, the model achieved better accuracy and robustness.</a:t>
            </a:r>
          </a:p>
          <a:p>
            <a:r>
              <a:rPr lang="en-US" sz="1800" b="1" dirty="0">
                <a:latin typeface="+mn-lt"/>
              </a:rPr>
              <a:t>Strengths</a:t>
            </a:r>
            <a:r>
              <a:rPr lang="en-US" sz="1800" dirty="0">
                <a:latin typeface="+mn-lt"/>
              </a:rPr>
              <a:t>: Ensemble methods can reduce overfitting and improve model generalization.</a:t>
            </a:r>
          </a:p>
          <a:p>
            <a:r>
              <a:rPr lang="en-US" sz="1800" b="1" dirty="0">
                <a:latin typeface="+mn-lt"/>
              </a:rPr>
              <a:t>Limitations</a:t>
            </a:r>
            <a:r>
              <a:rPr lang="en-US" sz="1800" dirty="0">
                <a:latin typeface="+mn-lt"/>
              </a:rPr>
              <a:t>: Ensemble models can be computationally expensive and may not be suitable for real-time applications.</a:t>
            </a:r>
          </a:p>
          <a:p>
            <a:pPr marL="76200" indent="0">
              <a:buNone/>
            </a:pPr>
            <a:r>
              <a:rPr lang="en-US" sz="1800" b="1" dirty="0">
                <a:latin typeface="+mn-lt"/>
              </a:rPr>
              <a:t>4. Liu et al. (2025) – A Skin Disease Classification Model Based on Multi-Scale Combined Efficient Channel Attention Module</a:t>
            </a:r>
          </a:p>
          <a:p>
            <a:r>
              <a:rPr lang="en-US" sz="1800" b="1" dirty="0">
                <a:latin typeface="+mn-lt"/>
              </a:rPr>
              <a:t>Summary</a:t>
            </a:r>
            <a:r>
              <a:rPr lang="en-US" sz="1800" dirty="0">
                <a:latin typeface="+mn-lt"/>
              </a:rPr>
              <a:t>: This paper proposed a model that integrates multi-scale feature extraction with an efficient channel attention mechanism to enhance skin disease classification. The model demonstrated improved performance on the ISIC2019 and HAM10000 datasets.</a:t>
            </a:r>
          </a:p>
          <a:p>
            <a:r>
              <a:rPr lang="en-US" sz="1800" b="1" dirty="0">
                <a:latin typeface="+mn-lt"/>
              </a:rPr>
              <a:t>Strengths</a:t>
            </a:r>
            <a:r>
              <a:rPr lang="en-US" sz="1800" dirty="0">
                <a:latin typeface="+mn-lt"/>
              </a:rPr>
              <a:t>: The incorporation of attention mechanisms allows the model to focus on relevant features, potentially improving accuracy.</a:t>
            </a:r>
          </a:p>
          <a:p>
            <a:r>
              <a:rPr lang="en-US" sz="1800" b="1" dirty="0">
                <a:latin typeface="+mn-lt"/>
              </a:rPr>
              <a:t>Limitations</a:t>
            </a:r>
            <a:r>
              <a:rPr lang="en-US" sz="1800" dirty="0">
                <a:latin typeface="+mn-lt"/>
              </a:rPr>
              <a:t>: The model's complexity may lead to increased computational requirements.</a:t>
            </a:r>
          </a:p>
          <a:p>
            <a:pPr marL="76200" indent="0">
              <a:buNone/>
            </a:pPr>
            <a:endParaRPr lang="en-IN" sz="1800" dirty="0">
              <a:latin typeface="+mn-lt"/>
            </a:endParaRPr>
          </a:p>
        </p:txBody>
      </p:sp>
    </p:spTree>
    <p:extLst>
      <p:ext uri="{BB962C8B-B14F-4D97-AF65-F5344CB8AC3E}">
        <p14:creationId xmlns:p14="http://schemas.microsoft.com/office/powerpoint/2010/main" val="27074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2AE8-30E5-7977-C663-A735FDA60BD3}"/>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D504713B-FA3A-14E0-AC43-42B4D37FDA29}"/>
              </a:ext>
            </a:extLst>
          </p:cNvPr>
          <p:cNvSpPr>
            <a:spLocks noGrp="1"/>
          </p:cNvSpPr>
          <p:nvPr>
            <p:ph type="body" idx="1"/>
          </p:nvPr>
        </p:nvSpPr>
        <p:spPr>
          <a:xfrm>
            <a:off x="812800" y="860033"/>
            <a:ext cx="10617200" cy="4759931"/>
          </a:xfrm>
        </p:spPr>
        <p:txBody>
          <a:bodyPr>
            <a:noAutofit/>
          </a:bodyPr>
          <a:lstStyle/>
          <a:p>
            <a:pPr marL="76200" indent="0">
              <a:buNone/>
            </a:pPr>
            <a:r>
              <a:rPr lang="en-US" sz="1720" b="1" dirty="0">
                <a:latin typeface="+mn-lt"/>
              </a:rPr>
              <a:t>5. Pacheco and Krohling (2020) – The Impact of Patient Clinical Information on Automated Skin Cancer Detection</a:t>
            </a:r>
          </a:p>
          <a:p>
            <a:r>
              <a:rPr lang="en-US" sz="1720" b="1" dirty="0">
                <a:latin typeface="+mn-lt"/>
              </a:rPr>
              <a:t>Summary</a:t>
            </a:r>
            <a:r>
              <a:rPr lang="en-US" sz="1720" dirty="0">
                <a:latin typeface="+mn-lt"/>
              </a:rPr>
              <a:t>: This study examined the influence of incorporating patient clinical information into automated skin cancer detection models. The findings suggested that combining clinical data with image data could enhance model performance.</a:t>
            </a:r>
          </a:p>
          <a:p>
            <a:r>
              <a:rPr lang="en-US" sz="1720" b="1" dirty="0">
                <a:latin typeface="+mn-lt"/>
              </a:rPr>
              <a:t>Strengths</a:t>
            </a:r>
            <a:r>
              <a:rPr lang="en-US" sz="1720" dirty="0">
                <a:latin typeface="+mn-lt"/>
              </a:rPr>
              <a:t>: Integrating clinical information can provide a more comprehensive understanding of the patient's condition.</a:t>
            </a:r>
          </a:p>
          <a:p>
            <a:r>
              <a:rPr lang="en-US" sz="1720" b="1" dirty="0">
                <a:latin typeface="+mn-lt"/>
              </a:rPr>
              <a:t>Limitations</a:t>
            </a:r>
            <a:r>
              <a:rPr lang="en-US" sz="1720" dirty="0">
                <a:latin typeface="+mn-lt"/>
              </a:rPr>
              <a:t>: The reliance on clinical data may raise privacy concerns and require additional data collection efforts.</a:t>
            </a:r>
          </a:p>
          <a:p>
            <a:pPr marL="76200" indent="0">
              <a:buNone/>
            </a:pPr>
            <a:r>
              <a:rPr lang="en-US" sz="1720" b="1" dirty="0">
                <a:latin typeface="+mn-lt"/>
              </a:rPr>
              <a:t>6. Mohan et al. (2024) – Enhancing Skin Disease Classification Leveraging Transformer-Based Deep Learning Architectures and Explainable AI</a:t>
            </a:r>
          </a:p>
          <a:p>
            <a:r>
              <a:rPr lang="en-US" sz="1720" b="1" dirty="0">
                <a:latin typeface="+mn-lt"/>
              </a:rPr>
              <a:t>Summary</a:t>
            </a:r>
            <a:r>
              <a:rPr lang="en-US" sz="1720" dirty="0">
                <a:latin typeface="+mn-lt"/>
              </a:rPr>
              <a:t>: This paper explored the use of transformer-based models, such as DinoV2, for skin disease classification. The study highlighted the model's high accuracy and F1-score, along with its interpretability using Grad-CAM and SHAP.</a:t>
            </a:r>
          </a:p>
          <a:p>
            <a:r>
              <a:rPr lang="en-US" sz="1720" b="1" dirty="0">
                <a:latin typeface="+mn-lt"/>
              </a:rPr>
              <a:t>Strengths</a:t>
            </a:r>
            <a:r>
              <a:rPr lang="en-US" sz="1720" dirty="0">
                <a:latin typeface="+mn-lt"/>
              </a:rPr>
              <a:t>: Transformer models have shown promise in capturing long-range dependencies in image data.</a:t>
            </a:r>
          </a:p>
          <a:p>
            <a:r>
              <a:rPr lang="en-US" sz="1720" b="1" dirty="0">
                <a:latin typeface="+mn-lt"/>
              </a:rPr>
              <a:t>Limitations</a:t>
            </a:r>
            <a:r>
              <a:rPr lang="en-US" sz="1720" dirty="0">
                <a:latin typeface="+mn-lt"/>
              </a:rPr>
              <a:t>: Transformer models can be computationally intensive and may require large amounts of data for training.</a:t>
            </a:r>
          </a:p>
          <a:p>
            <a:endParaRPr lang="en-IN" sz="1720" dirty="0">
              <a:latin typeface="+mn-lt"/>
            </a:endParaRPr>
          </a:p>
        </p:txBody>
      </p:sp>
    </p:spTree>
    <p:extLst>
      <p:ext uri="{BB962C8B-B14F-4D97-AF65-F5344CB8AC3E}">
        <p14:creationId xmlns:p14="http://schemas.microsoft.com/office/powerpoint/2010/main" val="955248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E41E4-0D5E-BB3F-5C90-2CBD2366FA35}"/>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C030F6AF-5CA9-DB1B-B6BE-D160313DD838}"/>
              </a:ext>
            </a:extLst>
          </p:cNvPr>
          <p:cNvSpPr>
            <a:spLocks noGrp="1"/>
          </p:cNvSpPr>
          <p:nvPr>
            <p:ph type="body" idx="1"/>
          </p:nvPr>
        </p:nvSpPr>
        <p:spPr>
          <a:xfrm>
            <a:off x="812800" y="952500"/>
            <a:ext cx="10668000" cy="4953000"/>
          </a:xfrm>
        </p:spPr>
        <p:txBody>
          <a:bodyPr>
            <a:noAutofit/>
          </a:bodyPr>
          <a:lstStyle/>
          <a:p>
            <a:pPr marL="76200" indent="0">
              <a:buNone/>
            </a:pPr>
            <a:r>
              <a:rPr lang="en-US" sz="1900" b="1" dirty="0">
                <a:latin typeface="+mn-lt"/>
              </a:rPr>
              <a:t>7. Han et al. (2020) – Classification of Skin Lesion Images with Ensemble Methods and Deep Learning</a:t>
            </a:r>
          </a:p>
          <a:p>
            <a:r>
              <a:rPr lang="en-US" sz="1900" b="1" dirty="0">
                <a:latin typeface="+mn-lt"/>
              </a:rPr>
              <a:t>Summary</a:t>
            </a:r>
            <a:r>
              <a:rPr lang="en-US" sz="1900" dirty="0">
                <a:latin typeface="+mn-lt"/>
              </a:rPr>
              <a:t>: This study investigated the use of ensemble methods combined with deep learning for skin lesion classification. The approach aimed to improve classification accuracy by leveraging the strengths of multiple models.</a:t>
            </a:r>
          </a:p>
          <a:p>
            <a:r>
              <a:rPr lang="en-US" sz="1900" b="1" dirty="0">
                <a:latin typeface="+mn-lt"/>
              </a:rPr>
              <a:t>Strengths</a:t>
            </a:r>
            <a:r>
              <a:rPr lang="en-US" sz="1900" dirty="0">
                <a:latin typeface="+mn-lt"/>
              </a:rPr>
              <a:t>: Ensemble methods can enhance model robustness and reduce variance.</a:t>
            </a:r>
          </a:p>
          <a:p>
            <a:r>
              <a:rPr lang="en-US" sz="1900" b="1" dirty="0">
                <a:latin typeface="+mn-lt"/>
              </a:rPr>
              <a:t>Limitations</a:t>
            </a:r>
            <a:r>
              <a:rPr lang="en-US" sz="1900" dirty="0">
                <a:latin typeface="+mn-lt"/>
              </a:rPr>
              <a:t>: The increased complexity of ensemble models can lead to higher computational costs.</a:t>
            </a:r>
          </a:p>
          <a:p>
            <a:pPr marL="76200" indent="0">
              <a:buNone/>
            </a:pPr>
            <a:r>
              <a:rPr lang="en-US" sz="1900" b="1" dirty="0">
                <a:latin typeface="+mn-lt"/>
              </a:rPr>
              <a:t>8. Xie et al. (2021) – A Lightweight CNN Model for Mobile Skin Disease Diagnosis</a:t>
            </a:r>
          </a:p>
          <a:p>
            <a:r>
              <a:rPr lang="en-US" sz="1900" b="1" dirty="0">
                <a:latin typeface="+mn-lt"/>
              </a:rPr>
              <a:t>Summary</a:t>
            </a:r>
            <a:r>
              <a:rPr lang="en-US" sz="1900" dirty="0">
                <a:latin typeface="+mn-lt"/>
              </a:rPr>
              <a:t>: This paper presented a lightweight CNN model designed for mobile devices, enabling on-the-go skin disease diagnosis. The model aimed to balance accuracy with computational efficiency.</a:t>
            </a:r>
          </a:p>
          <a:p>
            <a:r>
              <a:rPr lang="en-US" sz="1900" b="1" dirty="0">
                <a:latin typeface="+mn-lt"/>
              </a:rPr>
              <a:t>Strengths</a:t>
            </a:r>
            <a:r>
              <a:rPr lang="en-US" sz="1900" dirty="0">
                <a:latin typeface="+mn-lt"/>
              </a:rPr>
              <a:t>: Mobile-friendly models can facilitate widespread access to skin disease diagnostics.</a:t>
            </a:r>
          </a:p>
          <a:p>
            <a:r>
              <a:rPr lang="en-US" sz="1900" b="1" dirty="0">
                <a:latin typeface="+mn-lt"/>
              </a:rPr>
              <a:t>Limitations</a:t>
            </a:r>
            <a:r>
              <a:rPr lang="en-US" sz="1900" dirty="0">
                <a:latin typeface="+mn-lt"/>
              </a:rPr>
              <a:t>: The simplified model architecture may compromise performance compared to more complex models.</a:t>
            </a:r>
          </a:p>
          <a:p>
            <a:pPr marL="76200" indent="0">
              <a:buNone/>
            </a:pPr>
            <a:endParaRPr lang="en-IN" sz="1900" dirty="0">
              <a:latin typeface="+mn-lt"/>
            </a:endParaRPr>
          </a:p>
        </p:txBody>
      </p:sp>
    </p:spTree>
    <p:extLst>
      <p:ext uri="{BB962C8B-B14F-4D97-AF65-F5344CB8AC3E}">
        <p14:creationId xmlns:p14="http://schemas.microsoft.com/office/powerpoint/2010/main" val="4229196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CB749-1152-71DD-4EA0-95618126A713}"/>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9A9898EF-03BA-D01B-A95B-B4A9BDAD4F1A}"/>
              </a:ext>
            </a:extLst>
          </p:cNvPr>
          <p:cNvSpPr>
            <a:spLocks noGrp="1"/>
          </p:cNvSpPr>
          <p:nvPr>
            <p:ph type="body" idx="1"/>
          </p:nvPr>
        </p:nvSpPr>
        <p:spPr>
          <a:xfrm>
            <a:off x="812800" y="952500"/>
            <a:ext cx="10668000" cy="4953000"/>
          </a:xfrm>
        </p:spPr>
        <p:txBody>
          <a:bodyPr>
            <a:normAutofit/>
          </a:bodyPr>
          <a:lstStyle/>
          <a:p>
            <a:pPr marL="76200" indent="0">
              <a:buNone/>
            </a:pPr>
            <a:r>
              <a:rPr lang="en-US" sz="1900" b="1" dirty="0">
                <a:latin typeface="+mn-lt"/>
              </a:rPr>
              <a:t>9. Goyal et al. (2020) – AI-Based Explainability for Skin Lesion Classification Using Grad-CAM</a:t>
            </a:r>
          </a:p>
          <a:p>
            <a:r>
              <a:rPr lang="en-US" sz="1900" b="1" dirty="0">
                <a:latin typeface="+mn-lt"/>
              </a:rPr>
              <a:t>Summary</a:t>
            </a:r>
            <a:r>
              <a:rPr lang="en-US" sz="1900" dirty="0">
                <a:latin typeface="+mn-lt"/>
              </a:rPr>
              <a:t>: This study focused on enhancing the interpretability of skin lesion classification models using Grad-CAM, providing visual explanations for model predictions.</a:t>
            </a:r>
          </a:p>
          <a:p>
            <a:r>
              <a:rPr lang="en-US" sz="1900" b="1" dirty="0">
                <a:latin typeface="+mn-lt"/>
              </a:rPr>
              <a:t>Strengths</a:t>
            </a:r>
            <a:r>
              <a:rPr lang="en-US" sz="1900" dirty="0">
                <a:latin typeface="+mn-lt"/>
              </a:rPr>
              <a:t>: Explainable AI techniques can build trust in automated diagnostic systems.</a:t>
            </a:r>
          </a:p>
          <a:p>
            <a:r>
              <a:rPr lang="en-US" sz="1900" b="1" dirty="0">
                <a:latin typeface="+mn-lt"/>
              </a:rPr>
              <a:t>Limitations</a:t>
            </a:r>
            <a:r>
              <a:rPr lang="en-US" sz="1900" dirty="0">
                <a:latin typeface="+mn-lt"/>
              </a:rPr>
              <a:t>: The quality of explanations may vary depending on the model's complexity and the techniques used.</a:t>
            </a:r>
          </a:p>
          <a:p>
            <a:pPr marL="76200" indent="0">
              <a:buNone/>
            </a:pPr>
            <a:r>
              <a:rPr lang="en-US" sz="1900" b="1" dirty="0">
                <a:latin typeface="+mn-lt"/>
              </a:rPr>
              <a:t>10. Yu et al. (2021) – Evaluating Fairness in AI Dermatology Models Across Skin Tones</a:t>
            </a:r>
          </a:p>
          <a:p>
            <a:r>
              <a:rPr lang="en-US" sz="1900" b="1" dirty="0">
                <a:latin typeface="+mn-lt"/>
              </a:rPr>
              <a:t>Summary</a:t>
            </a:r>
            <a:r>
              <a:rPr lang="en-US" sz="1900" dirty="0">
                <a:latin typeface="+mn-lt"/>
              </a:rPr>
              <a:t>: This paper assessed the fairness of AI dermatology models across different skin tones, highlighting potential biases and suggesting improvements for equitable model performance.</a:t>
            </a:r>
          </a:p>
          <a:p>
            <a:r>
              <a:rPr lang="en-US" sz="1900" b="1" dirty="0">
                <a:latin typeface="+mn-lt"/>
              </a:rPr>
              <a:t>Strengths</a:t>
            </a:r>
            <a:r>
              <a:rPr lang="en-US" sz="1900" dirty="0">
                <a:latin typeface="+mn-lt"/>
              </a:rPr>
              <a:t>: Addressing fairness ensures that AI models provide accurate diagnoses for diverse populations.</a:t>
            </a:r>
          </a:p>
          <a:p>
            <a:r>
              <a:rPr lang="en-US" sz="1900" b="1" dirty="0">
                <a:latin typeface="+mn-lt"/>
              </a:rPr>
              <a:t>Limitations</a:t>
            </a:r>
            <a:r>
              <a:rPr lang="en-US" sz="1900" dirty="0">
                <a:latin typeface="+mn-lt"/>
              </a:rPr>
              <a:t>: Achieving fairness may require extensive and diverse datasets, which can be challenging to obtain.</a:t>
            </a:r>
          </a:p>
          <a:p>
            <a:pPr marL="76200" indent="0">
              <a:buNone/>
            </a:pPr>
            <a:endParaRPr lang="en-IN" sz="1900" dirty="0">
              <a:latin typeface="+mn-lt"/>
            </a:endParaRPr>
          </a:p>
        </p:txBody>
      </p:sp>
    </p:spTree>
    <p:extLst>
      <p:ext uri="{BB962C8B-B14F-4D97-AF65-F5344CB8AC3E}">
        <p14:creationId xmlns:p14="http://schemas.microsoft.com/office/powerpoint/2010/main" val="3623686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61347-D2C5-CDC8-D448-248FCB1F115A}"/>
              </a:ext>
            </a:extLst>
          </p:cNvPr>
          <p:cNvSpPr>
            <a:spLocks noGrp="1"/>
          </p:cNvSpPr>
          <p:nvPr>
            <p:ph type="title"/>
          </p:nvPr>
        </p:nvSpPr>
        <p:spPr/>
        <p:txBody>
          <a:bodyPr/>
          <a:lstStyle/>
          <a:p>
            <a:r>
              <a:rPr lang="en-IN" dirty="0"/>
              <a:t>Literature Survey (10 papers)</a:t>
            </a:r>
          </a:p>
        </p:txBody>
      </p:sp>
      <p:graphicFrame>
        <p:nvGraphicFramePr>
          <p:cNvPr id="5" name="Table 4">
            <a:extLst>
              <a:ext uri="{FF2B5EF4-FFF2-40B4-BE49-F238E27FC236}">
                <a16:creationId xmlns:a16="http://schemas.microsoft.com/office/drawing/2014/main" id="{E094DC96-91C9-C5B9-2A3C-75B968C8EB39}"/>
              </a:ext>
            </a:extLst>
          </p:cNvPr>
          <p:cNvGraphicFramePr>
            <a:graphicFrameLocks noGrp="1"/>
          </p:cNvGraphicFramePr>
          <p:nvPr>
            <p:extLst>
              <p:ext uri="{D42A27DB-BD31-4B8C-83A1-F6EECF244321}">
                <p14:modId xmlns:p14="http://schemas.microsoft.com/office/powerpoint/2010/main" val="3919345224"/>
              </p:ext>
            </p:extLst>
          </p:nvPr>
        </p:nvGraphicFramePr>
        <p:xfrm>
          <a:off x="812800" y="986155"/>
          <a:ext cx="10668000" cy="4952997"/>
        </p:xfrm>
        <a:graphic>
          <a:graphicData uri="http://schemas.openxmlformats.org/drawingml/2006/table">
            <a:tbl>
              <a:tblPr>
                <a:tableStyleId>{08FB837D-C827-4EFA-A057-4D05807E0F7C}</a:tableStyleId>
              </a:tblPr>
              <a:tblGrid>
                <a:gridCol w="1778000">
                  <a:extLst>
                    <a:ext uri="{9D8B030D-6E8A-4147-A177-3AD203B41FA5}">
                      <a16:colId xmlns:a16="http://schemas.microsoft.com/office/drawing/2014/main" val="3449482468"/>
                    </a:ext>
                  </a:extLst>
                </a:gridCol>
                <a:gridCol w="1778000">
                  <a:extLst>
                    <a:ext uri="{9D8B030D-6E8A-4147-A177-3AD203B41FA5}">
                      <a16:colId xmlns:a16="http://schemas.microsoft.com/office/drawing/2014/main" val="2642291264"/>
                    </a:ext>
                  </a:extLst>
                </a:gridCol>
                <a:gridCol w="1778000">
                  <a:extLst>
                    <a:ext uri="{9D8B030D-6E8A-4147-A177-3AD203B41FA5}">
                      <a16:colId xmlns:a16="http://schemas.microsoft.com/office/drawing/2014/main" val="484620842"/>
                    </a:ext>
                  </a:extLst>
                </a:gridCol>
                <a:gridCol w="1778000">
                  <a:extLst>
                    <a:ext uri="{9D8B030D-6E8A-4147-A177-3AD203B41FA5}">
                      <a16:colId xmlns:a16="http://schemas.microsoft.com/office/drawing/2014/main" val="2177466703"/>
                    </a:ext>
                  </a:extLst>
                </a:gridCol>
                <a:gridCol w="1778000">
                  <a:extLst>
                    <a:ext uri="{9D8B030D-6E8A-4147-A177-3AD203B41FA5}">
                      <a16:colId xmlns:a16="http://schemas.microsoft.com/office/drawing/2014/main" val="1077172676"/>
                    </a:ext>
                  </a:extLst>
                </a:gridCol>
                <a:gridCol w="1778000">
                  <a:extLst>
                    <a:ext uri="{9D8B030D-6E8A-4147-A177-3AD203B41FA5}">
                      <a16:colId xmlns:a16="http://schemas.microsoft.com/office/drawing/2014/main" val="676639705"/>
                    </a:ext>
                  </a:extLst>
                </a:gridCol>
              </a:tblGrid>
              <a:tr h="467783">
                <a:tc>
                  <a:txBody>
                    <a:bodyPr/>
                    <a:lstStyle/>
                    <a:p>
                      <a:pPr>
                        <a:buNone/>
                      </a:pPr>
                      <a:r>
                        <a:rPr lang="en-IN" sz="1200"/>
                        <a:t>Study</a:t>
                      </a:r>
                    </a:p>
                  </a:txBody>
                  <a:tcPr marL="82550" marR="82550" marT="41275" marB="41275" anchor="ctr"/>
                </a:tc>
                <a:tc>
                  <a:txBody>
                    <a:bodyPr/>
                    <a:lstStyle/>
                    <a:p>
                      <a:pPr>
                        <a:buNone/>
                      </a:pPr>
                      <a:r>
                        <a:rPr lang="en-IN" sz="1200"/>
                        <a:t>Dataset(s)</a:t>
                      </a:r>
                    </a:p>
                  </a:txBody>
                  <a:tcPr marL="82550" marR="82550" marT="41275" marB="41275" anchor="ctr"/>
                </a:tc>
                <a:tc>
                  <a:txBody>
                    <a:bodyPr/>
                    <a:lstStyle/>
                    <a:p>
                      <a:pPr>
                        <a:buNone/>
                      </a:pPr>
                      <a:r>
                        <a:rPr lang="en-IN" sz="1200"/>
                        <a:t>Model Type</a:t>
                      </a:r>
                    </a:p>
                  </a:txBody>
                  <a:tcPr marL="82550" marR="82550" marT="41275" marB="41275" anchor="ctr"/>
                </a:tc>
                <a:tc>
                  <a:txBody>
                    <a:bodyPr/>
                    <a:lstStyle/>
                    <a:p>
                      <a:pPr>
                        <a:buNone/>
                      </a:pPr>
                      <a:r>
                        <a:rPr lang="en-IN" sz="1200"/>
                        <a:t>Key Innovation</a:t>
                      </a:r>
                    </a:p>
                  </a:txBody>
                  <a:tcPr marL="82550" marR="82550" marT="41275" marB="41275" anchor="ctr"/>
                </a:tc>
                <a:tc>
                  <a:txBody>
                    <a:bodyPr/>
                    <a:lstStyle/>
                    <a:p>
                      <a:pPr>
                        <a:buNone/>
                      </a:pPr>
                      <a:r>
                        <a:rPr lang="en-IN" sz="1200"/>
                        <a:t>Performance Metrics</a:t>
                      </a:r>
                    </a:p>
                  </a:txBody>
                  <a:tcPr marL="82550" marR="82550" marT="41275" marB="41275" anchor="ctr"/>
                </a:tc>
                <a:tc>
                  <a:txBody>
                    <a:bodyPr/>
                    <a:lstStyle/>
                    <a:p>
                      <a:pPr>
                        <a:buNone/>
                      </a:pPr>
                      <a:r>
                        <a:rPr lang="en-IN" sz="1200"/>
                        <a:t>Limitations</a:t>
                      </a:r>
                    </a:p>
                  </a:txBody>
                  <a:tcPr marL="82550" marR="82550" marT="41275" marB="41275" anchor="ctr"/>
                </a:tc>
                <a:extLst>
                  <a:ext uri="{0D108BD9-81ED-4DB2-BD59-A6C34878D82A}">
                    <a16:rowId xmlns:a16="http://schemas.microsoft.com/office/drawing/2014/main" val="2868326315"/>
                  </a:ext>
                </a:extLst>
              </a:tr>
              <a:tr h="467783">
                <a:tc>
                  <a:txBody>
                    <a:bodyPr/>
                    <a:lstStyle/>
                    <a:p>
                      <a:pPr>
                        <a:buNone/>
                      </a:pPr>
                      <a:r>
                        <a:rPr lang="en-IN" sz="1200"/>
                        <a:t>Esteva et al. (2017)</a:t>
                      </a:r>
                    </a:p>
                  </a:txBody>
                  <a:tcPr marL="82550" marR="82550" marT="41275" marB="41275" anchor="ctr"/>
                </a:tc>
                <a:tc>
                  <a:txBody>
                    <a:bodyPr/>
                    <a:lstStyle/>
                    <a:p>
                      <a:pPr>
                        <a:buNone/>
                      </a:pPr>
                      <a:r>
                        <a:rPr lang="en-IN" sz="1200" dirty="0"/>
                        <a:t>Private</a:t>
                      </a:r>
                    </a:p>
                  </a:txBody>
                  <a:tcPr marL="82550" marR="82550" marT="41275" marB="41275" anchor="ctr"/>
                </a:tc>
                <a:tc>
                  <a:txBody>
                    <a:bodyPr/>
                    <a:lstStyle/>
                    <a:p>
                      <a:pPr>
                        <a:buNone/>
                      </a:pPr>
                      <a:r>
                        <a:rPr lang="en-IN" sz="1200"/>
                        <a:t>CNN</a:t>
                      </a:r>
                    </a:p>
                  </a:txBody>
                  <a:tcPr marL="82550" marR="82550" marT="41275" marB="41275" anchor="ctr"/>
                </a:tc>
                <a:tc>
                  <a:txBody>
                    <a:bodyPr/>
                    <a:lstStyle/>
                    <a:p>
                      <a:pPr>
                        <a:buNone/>
                      </a:pPr>
                      <a:r>
                        <a:rPr lang="en-IN" sz="1200"/>
                        <a:t>Large-scale training</a:t>
                      </a:r>
                    </a:p>
                  </a:txBody>
                  <a:tcPr marL="82550" marR="82550" marT="41275" marB="41275" anchor="ctr"/>
                </a:tc>
                <a:tc>
                  <a:txBody>
                    <a:bodyPr/>
                    <a:lstStyle/>
                    <a:p>
                      <a:pPr>
                        <a:buNone/>
                      </a:pPr>
                      <a:r>
                        <a:rPr lang="en-IN" sz="1200"/>
                        <a:t>High accuracy</a:t>
                      </a:r>
                    </a:p>
                  </a:txBody>
                  <a:tcPr marL="82550" marR="82550" marT="41275" marB="41275" anchor="ctr"/>
                </a:tc>
                <a:tc>
                  <a:txBody>
                    <a:bodyPr/>
                    <a:lstStyle/>
                    <a:p>
                      <a:pPr>
                        <a:buNone/>
                      </a:pPr>
                      <a:r>
                        <a:rPr lang="en-IN" sz="1200"/>
                        <a:t>Limited disease coverage</a:t>
                      </a:r>
                    </a:p>
                  </a:txBody>
                  <a:tcPr marL="82550" marR="82550" marT="41275" marB="41275" anchor="ctr"/>
                </a:tc>
                <a:extLst>
                  <a:ext uri="{0D108BD9-81ED-4DB2-BD59-A6C34878D82A}">
                    <a16:rowId xmlns:a16="http://schemas.microsoft.com/office/drawing/2014/main" val="835110488"/>
                  </a:ext>
                </a:extLst>
              </a:tr>
              <a:tr h="467783">
                <a:tc>
                  <a:txBody>
                    <a:bodyPr/>
                    <a:lstStyle/>
                    <a:p>
                      <a:pPr>
                        <a:buNone/>
                      </a:pPr>
                      <a:r>
                        <a:rPr lang="en-IN" sz="1200"/>
                        <a:t>Tschandl et al. (2018)</a:t>
                      </a:r>
                    </a:p>
                  </a:txBody>
                  <a:tcPr marL="82550" marR="82550" marT="41275" marB="41275" anchor="ctr"/>
                </a:tc>
                <a:tc>
                  <a:txBody>
                    <a:bodyPr/>
                    <a:lstStyle/>
                    <a:p>
                      <a:pPr>
                        <a:buNone/>
                      </a:pPr>
                      <a:r>
                        <a:rPr lang="en-IN" sz="1200" dirty="0"/>
                        <a:t>HAM10000</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Dataset introduction</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Dataset limitations</a:t>
                      </a:r>
                    </a:p>
                  </a:txBody>
                  <a:tcPr marL="82550" marR="82550" marT="41275" marB="41275" anchor="ctr"/>
                </a:tc>
                <a:extLst>
                  <a:ext uri="{0D108BD9-81ED-4DB2-BD59-A6C34878D82A}">
                    <a16:rowId xmlns:a16="http://schemas.microsoft.com/office/drawing/2014/main" val="3200587460"/>
                  </a:ext>
                </a:extLst>
              </a:tr>
              <a:tr h="275167">
                <a:tc>
                  <a:txBody>
                    <a:bodyPr/>
                    <a:lstStyle/>
                    <a:p>
                      <a:pPr>
                        <a:buNone/>
                      </a:pPr>
                      <a:r>
                        <a:rPr lang="en-IN" sz="1200" dirty="0"/>
                        <a:t>Harangi (2018)</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a:t>CNN Ensemble</a:t>
                      </a:r>
                    </a:p>
                  </a:txBody>
                  <a:tcPr marL="82550" marR="82550" marT="41275" marB="41275" anchor="ctr"/>
                </a:tc>
                <a:tc>
                  <a:txBody>
                    <a:bodyPr/>
                    <a:lstStyle/>
                    <a:p>
                      <a:pPr>
                        <a:buNone/>
                      </a:pPr>
                      <a:r>
                        <a:rPr lang="en-IN" sz="1200" dirty="0"/>
                        <a:t>Ensemble learning</a:t>
                      </a:r>
                    </a:p>
                  </a:txBody>
                  <a:tcPr marL="82550" marR="82550" marT="41275" marB="41275" anchor="ctr"/>
                </a:tc>
                <a:tc>
                  <a:txBody>
                    <a:bodyPr/>
                    <a:lstStyle/>
                    <a:p>
                      <a:pPr>
                        <a:buNone/>
                      </a:pPr>
                      <a:r>
                        <a:rPr lang="en-IN" sz="1200"/>
                        <a:t>Improved accuracy</a:t>
                      </a:r>
                    </a:p>
                  </a:txBody>
                  <a:tcPr marL="82550" marR="82550" marT="41275" marB="41275" anchor="ctr"/>
                </a:tc>
                <a:tc>
                  <a:txBody>
                    <a:bodyPr/>
                    <a:lstStyle/>
                    <a:p>
                      <a:pPr>
                        <a:buNone/>
                      </a:pPr>
                      <a:r>
                        <a:rPr lang="en-IN" sz="1200"/>
                        <a:t>Computational cost</a:t>
                      </a:r>
                    </a:p>
                  </a:txBody>
                  <a:tcPr marL="82550" marR="82550" marT="41275" marB="41275" anchor="ctr"/>
                </a:tc>
                <a:extLst>
                  <a:ext uri="{0D108BD9-81ED-4DB2-BD59-A6C34878D82A}">
                    <a16:rowId xmlns:a16="http://schemas.microsoft.com/office/drawing/2014/main" val="3962872094"/>
                  </a:ext>
                </a:extLst>
              </a:tr>
              <a:tr h="467783">
                <a:tc>
                  <a:txBody>
                    <a:bodyPr/>
                    <a:lstStyle/>
                    <a:p>
                      <a:pPr>
                        <a:buNone/>
                      </a:pPr>
                      <a:r>
                        <a:rPr lang="en-IN" sz="1200"/>
                        <a:t>Liu et al. (2025)</a:t>
                      </a:r>
                    </a:p>
                  </a:txBody>
                  <a:tcPr marL="82550" marR="82550" marT="41275" marB="41275" anchor="ctr"/>
                </a:tc>
                <a:tc>
                  <a:txBody>
                    <a:bodyPr/>
                    <a:lstStyle/>
                    <a:p>
                      <a:pPr>
                        <a:buNone/>
                      </a:pPr>
                      <a:r>
                        <a:rPr lang="en-IN" sz="1200" dirty="0"/>
                        <a:t>ISIC2019, HAM10000</a:t>
                      </a:r>
                    </a:p>
                  </a:txBody>
                  <a:tcPr marL="82550" marR="82550" marT="41275" marB="41275" anchor="ctr"/>
                </a:tc>
                <a:tc>
                  <a:txBody>
                    <a:bodyPr/>
                    <a:lstStyle/>
                    <a:p>
                      <a:pPr>
                        <a:buNone/>
                      </a:pPr>
                      <a:r>
                        <a:rPr lang="en-IN" sz="1200"/>
                        <a:t>CNN with Attention</a:t>
                      </a:r>
                    </a:p>
                  </a:txBody>
                  <a:tcPr marL="82550" marR="82550" marT="41275" marB="41275" anchor="ctr"/>
                </a:tc>
                <a:tc>
                  <a:txBody>
                    <a:bodyPr/>
                    <a:lstStyle/>
                    <a:p>
                      <a:pPr>
                        <a:buNone/>
                      </a:pPr>
                      <a:r>
                        <a:rPr lang="en-IN" sz="1200"/>
                        <a:t>Multi-scale attention</a:t>
                      </a:r>
                    </a:p>
                  </a:txBody>
                  <a:tcPr marL="82550" marR="82550" marT="41275" marB="41275" anchor="ctr"/>
                </a:tc>
                <a:tc>
                  <a:txBody>
                    <a:bodyPr/>
                    <a:lstStyle/>
                    <a:p>
                      <a:pPr>
                        <a:buNone/>
                      </a:pPr>
                      <a:r>
                        <a:rPr lang="en-IN" sz="1200"/>
                        <a:t>77.6% (ISIC), 88.2% (HAM10000)</a:t>
                      </a:r>
                    </a:p>
                  </a:txBody>
                  <a:tcPr marL="82550" marR="82550" marT="41275" marB="41275" anchor="ctr"/>
                </a:tc>
                <a:tc>
                  <a:txBody>
                    <a:bodyPr/>
                    <a:lstStyle/>
                    <a:p>
                      <a:pPr>
                        <a:buNone/>
                      </a:pPr>
                      <a:r>
                        <a:rPr lang="en-IN" sz="1200"/>
                        <a:t>Model complexity</a:t>
                      </a:r>
                    </a:p>
                  </a:txBody>
                  <a:tcPr marL="82550" marR="82550" marT="41275" marB="41275" anchor="ctr"/>
                </a:tc>
                <a:extLst>
                  <a:ext uri="{0D108BD9-81ED-4DB2-BD59-A6C34878D82A}">
                    <a16:rowId xmlns:a16="http://schemas.microsoft.com/office/drawing/2014/main" val="4212210174"/>
                  </a:ext>
                </a:extLst>
              </a:tr>
              <a:tr h="467783">
                <a:tc>
                  <a:txBody>
                    <a:bodyPr/>
                    <a:lstStyle/>
                    <a:p>
                      <a:pPr>
                        <a:buNone/>
                      </a:pPr>
                      <a:r>
                        <a:rPr lang="en-IN" sz="1200"/>
                        <a:t>Pacheco &amp; Krohling (2020)</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a:t>CNN</a:t>
                      </a:r>
                    </a:p>
                  </a:txBody>
                  <a:tcPr marL="82550" marR="82550" marT="41275" marB="41275" anchor="ctr"/>
                </a:tc>
                <a:tc>
                  <a:txBody>
                    <a:bodyPr/>
                    <a:lstStyle/>
                    <a:p>
                      <a:pPr>
                        <a:buNone/>
                      </a:pPr>
                      <a:r>
                        <a:rPr lang="en-IN" sz="1200"/>
                        <a:t>Clinical data integration</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Data privacy concerns</a:t>
                      </a:r>
                    </a:p>
                  </a:txBody>
                  <a:tcPr marL="82550" marR="82550" marT="41275" marB="41275" anchor="ctr"/>
                </a:tc>
                <a:extLst>
                  <a:ext uri="{0D108BD9-81ED-4DB2-BD59-A6C34878D82A}">
                    <a16:rowId xmlns:a16="http://schemas.microsoft.com/office/drawing/2014/main" val="1352457576"/>
                  </a:ext>
                </a:extLst>
              </a:tr>
              <a:tr h="467783">
                <a:tc>
                  <a:txBody>
                    <a:bodyPr/>
                    <a:lstStyle/>
                    <a:p>
                      <a:pPr>
                        <a:buNone/>
                      </a:pPr>
                      <a:r>
                        <a:rPr lang="en-IN" sz="1200" dirty="0"/>
                        <a:t>Mohan et al. (2024)</a:t>
                      </a:r>
                    </a:p>
                  </a:txBody>
                  <a:tcPr marL="82550" marR="82550" marT="41275" marB="41275" anchor="ctr"/>
                </a:tc>
                <a:tc>
                  <a:txBody>
                    <a:bodyPr/>
                    <a:lstStyle/>
                    <a:p>
                      <a:pPr>
                        <a:buNone/>
                      </a:pPr>
                      <a:r>
                        <a:rPr lang="en-IN" sz="1200"/>
                        <a:t>31-class dataset</a:t>
                      </a:r>
                    </a:p>
                  </a:txBody>
                  <a:tcPr marL="82550" marR="82550" marT="41275" marB="41275" anchor="ctr"/>
                </a:tc>
                <a:tc>
                  <a:txBody>
                    <a:bodyPr/>
                    <a:lstStyle/>
                    <a:p>
                      <a:pPr>
                        <a:buNone/>
                      </a:pPr>
                      <a:r>
                        <a:rPr lang="en-IN" sz="1200"/>
                        <a:t>Transformer (DinoV2)</a:t>
                      </a:r>
                    </a:p>
                  </a:txBody>
                  <a:tcPr marL="82550" marR="82550" marT="41275" marB="41275" anchor="ctr"/>
                </a:tc>
                <a:tc>
                  <a:txBody>
                    <a:bodyPr/>
                    <a:lstStyle/>
                    <a:p>
                      <a:pPr>
                        <a:buNone/>
                      </a:pPr>
                      <a:r>
                        <a:rPr lang="en-IN" sz="1200"/>
                        <a:t>Transformer architecture</a:t>
                      </a:r>
                    </a:p>
                  </a:txBody>
                  <a:tcPr marL="82550" marR="82550" marT="41275" marB="41275" anchor="ctr"/>
                </a:tc>
                <a:tc>
                  <a:txBody>
                    <a:bodyPr/>
                    <a:lstStyle/>
                    <a:p>
                      <a:pPr>
                        <a:buNone/>
                      </a:pPr>
                      <a:r>
                        <a:rPr lang="en-IN" sz="1200"/>
                        <a:t>96.48% accuracy, 0.9727 F1-score</a:t>
                      </a:r>
                    </a:p>
                  </a:txBody>
                  <a:tcPr marL="82550" marR="82550" marT="41275" marB="41275" anchor="ctr"/>
                </a:tc>
                <a:tc>
                  <a:txBody>
                    <a:bodyPr/>
                    <a:lstStyle/>
                    <a:p>
                      <a:pPr>
                        <a:buNone/>
                      </a:pPr>
                      <a:r>
                        <a:rPr lang="en-IN" sz="1200"/>
                        <a:t>Computational intensity</a:t>
                      </a:r>
                    </a:p>
                  </a:txBody>
                  <a:tcPr marL="82550" marR="82550" marT="41275" marB="41275" anchor="ctr"/>
                </a:tc>
                <a:extLst>
                  <a:ext uri="{0D108BD9-81ED-4DB2-BD59-A6C34878D82A}">
                    <a16:rowId xmlns:a16="http://schemas.microsoft.com/office/drawing/2014/main" val="2646974862"/>
                  </a:ext>
                </a:extLst>
              </a:tr>
              <a:tr h="467783">
                <a:tc>
                  <a:txBody>
                    <a:bodyPr/>
                    <a:lstStyle/>
                    <a:p>
                      <a:pPr>
                        <a:buNone/>
                      </a:pPr>
                      <a:r>
                        <a:rPr lang="en-IN" sz="1200"/>
                        <a:t>Han et al. (2020)</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a:t>CNN Ensemble</a:t>
                      </a:r>
                    </a:p>
                  </a:txBody>
                  <a:tcPr marL="82550" marR="82550" marT="41275" marB="41275" anchor="ctr"/>
                </a:tc>
                <a:tc>
                  <a:txBody>
                    <a:bodyPr/>
                    <a:lstStyle/>
                    <a:p>
                      <a:pPr>
                        <a:buNone/>
                      </a:pPr>
                      <a:r>
                        <a:rPr lang="en-IN" sz="1200"/>
                        <a:t>Ensemble methods</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Higher computational cost</a:t>
                      </a:r>
                    </a:p>
                  </a:txBody>
                  <a:tcPr marL="82550" marR="82550" marT="41275" marB="41275" anchor="ctr"/>
                </a:tc>
                <a:extLst>
                  <a:ext uri="{0D108BD9-81ED-4DB2-BD59-A6C34878D82A}">
                    <a16:rowId xmlns:a16="http://schemas.microsoft.com/office/drawing/2014/main" val="4061714184"/>
                  </a:ext>
                </a:extLst>
              </a:tr>
              <a:tr h="467783">
                <a:tc>
                  <a:txBody>
                    <a:bodyPr/>
                    <a:lstStyle/>
                    <a:p>
                      <a:pPr>
                        <a:buNone/>
                      </a:pPr>
                      <a:r>
                        <a:rPr lang="en-IN" sz="1200"/>
                        <a:t>Xie et al. (2021)</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a:t>Lightweight CNN</a:t>
                      </a:r>
                    </a:p>
                  </a:txBody>
                  <a:tcPr marL="82550" marR="82550" marT="41275" marB="41275" anchor="ctr"/>
                </a:tc>
                <a:tc>
                  <a:txBody>
                    <a:bodyPr/>
                    <a:lstStyle/>
                    <a:p>
                      <a:pPr>
                        <a:buNone/>
                      </a:pPr>
                      <a:r>
                        <a:rPr lang="en-IN" sz="1200"/>
                        <a:t>Mobile optimization</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Reduced performance</a:t>
                      </a:r>
                    </a:p>
                  </a:txBody>
                  <a:tcPr marL="82550" marR="82550" marT="41275" marB="41275" anchor="ctr"/>
                </a:tc>
                <a:extLst>
                  <a:ext uri="{0D108BD9-81ED-4DB2-BD59-A6C34878D82A}">
                    <a16:rowId xmlns:a16="http://schemas.microsoft.com/office/drawing/2014/main" val="456049643"/>
                  </a:ext>
                </a:extLst>
              </a:tr>
              <a:tr h="467783">
                <a:tc>
                  <a:txBody>
                    <a:bodyPr/>
                    <a:lstStyle/>
                    <a:p>
                      <a:pPr>
                        <a:buNone/>
                      </a:pPr>
                      <a:r>
                        <a:rPr lang="en-IN" sz="1200"/>
                        <a:t>Goyal et al. (2020)</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dirty="0"/>
                        <a:t>CNN</a:t>
                      </a:r>
                    </a:p>
                  </a:txBody>
                  <a:tcPr marL="82550" marR="82550" marT="41275" marB="41275" anchor="ctr"/>
                </a:tc>
                <a:tc>
                  <a:txBody>
                    <a:bodyPr/>
                    <a:lstStyle/>
                    <a:p>
                      <a:pPr>
                        <a:buNone/>
                      </a:pPr>
                      <a:r>
                        <a:rPr lang="en-IN" sz="1200"/>
                        <a:t>Grad-CAM explainability</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a:t>Explanation quality variability</a:t>
                      </a:r>
                    </a:p>
                  </a:txBody>
                  <a:tcPr marL="82550" marR="82550" marT="41275" marB="41275" anchor="ctr"/>
                </a:tc>
                <a:extLst>
                  <a:ext uri="{0D108BD9-81ED-4DB2-BD59-A6C34878D82A}">
                    <a16:rowId xmlns:a16="http://schemas.microsoft.com/office/drawing/2014/main" val="324263480"/>
                  </a:ext>
                </a:extLst>
              </a:tr>
              <a:tr h="467783">
                <a:tc>
                  <a:txBody>
                    <a:bodyPr/>
                    <a:lstStyle/>
                    <a:p>
                      <a:pPr>
                        <a:buNone/>
                      </a:pPr>
                      <a:r>
                        <a:rPr lang="en-IN" sz="1200"/>
                        <a:t>Yu et al. (2021)</a:t>
                      </a:r>
                    </a:p>
                  </a:txBody>
                  <a:tcPr marL="82550" marR="82550" marT="41275" marB="41275" anchor="ctr"/>
                </a:tc>
                <a:tc>
                  <a:txBody>
                    <a:bodyPr/>
                    <a:lstStyle/>
                    <a:p>
                      <a:pPr>
                        <a:buNone/>
                      </a:pPr>
                      <a:r>
                        <a:rPr lang="en-IN" sz="1200"/>
                        <a:t>Private</a:t>
                      </a:r>
                    </a:p>
                  </a:txBody>
                  <a:tcPr marL="82550" marR="82550" marT="41275" marB="41275" anchor="ctr"/>
                </a:tc>
                <a:tc>
                  <a:txBody>
                    <a:bodyPr/>
                    <a:lstStyle/>
                    <a:p>
                      <a:pPr>
                        <a:buNone/>
                      </a:pPr>
                      <a:r>
                        <a:rPr lang="en-IN" sz="1200"/>
                        <a:t>CNN</a:t>
                      </a:r>
                    </a:p>
                  </a:txBody>
                  <a:tcPr marL="82550" marR="82550" marT="41275" marB="41275" anchor="ctr"/>
                </a:tc>
                <a:tc>
                  <a:txBody>
                    <a:bodyPr/>
                    <a:lstStyle/>
                    <a:p>
                      <a:pPr>
                        <a:buNone/>
                      </a:pPr>
                      <a:r>
                        <a:rPr lang="en-IN" sz="1200"/>
                        <a:t>Fairness evaluation</a:t>
                      </a:r>
                    </a:p>
                  </a:txBody>
                  <a:tcPr marL="82550" marR="82550" marT="41275" marB="41275" anchor="ctr"/>
                </a:tc>
                <a:tc>
                  <a:txBody>
                    <a:bodyPr/>
                    <a:lstStyle/>
                    <a:p>
                      <a:pPr>
                        <a:buNone/>
                      </a:pPr>
                      <a:r>
                        <a:rPr lang="en-IN" sz="1200"/>
                        <a:t>-</a:t>
                      </a:r>
                    </a:p>
                  </a:txBody>
                  <a:tcPr marL="82550" marR="82550" marT="41275" marB="41275" anchor="ctr"/>
                </a:tc>
                <a:tc>
                  <a:txBody>
                    <a:bodyPr/>
                    <a:lstStyle/>
                    <a:p>
                      <a:pPr>
                        <a:buNone/>
                      </a:pPr>
                      <a:r>
                        <a:rPr lang="en-IN" sz="1200" dirty="0"/>
                        <a:t>Dataset diversity challenges</a:t>
                      </a:r>
                    </a:p>
                  </a:txBody>
                  <a:tcPr marL="82550" marR="82550" marT="41275" marB="41275" anchor="ctr"/>
                </a:tc>
                <a:extLst>
                  <a:ext uri="{0D108BD9-81ED-4DB2-BD59-A6C34878D82A}">
                    <a16:rowId xmlns:a16="http://schemas.microsoft.com/office/drawing/2014/main" val="474903349"/>
                  </a:ext>
                </a:extLst>
              </a:tr>
            </a:tbl>
          </a:graphicData>
        </a:graphic>
      </p:graphicFrame>
    </p:spTree>
    <p:extLst>
      <p:ext uri="{BB962C8B-B14F-4D97-AF65-F5344CB8AC3E}">
        <p14:creationId xmlns:p14="http://schemas.microsoft.com/office/powerpoint/2010/main" val="187514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D3DC-E110-5DC9-B490-0320B45F9D88}"/>
              </a:ext>
            </a:extLst>
          </p:cNvPr>
          <p:cNvSpPr>
            <a:spLocks noGrp="1"/>
          </p:cNvSpPr>
          <p:nvPr>
            <p:ph type="title"/>
          </p:nvPr>
        </p:nvSpPr>
        <p:spPr>
          <a:xfrm>
            <a:off x="812800" y="655501"/>
            <a:ext cx="10668000" cy="487500"/>
          </a:xfrm>
        </p:spPr>
        <p:txBody>
          <a:bodyPr/>
          <a:lstStyle/>
          <a:p>
            <a:r>
              <a:rPr lang="en-US" dirty="0">
                <a:latin typeface="Verdana" panose="020B0604030504040204" pitchFamily="34" charset="0"/>
                <a:ea typeface="Verdana" panose="020B0604030504040204" pitchFamily="34" charset="0"/>
              </a:rPr>
              <a:t>Objectives</a:t>
            </a:r>
            <a:br>
              <a:rPr lang="en-US" dirty="0">
                <a:latin typeface="Verdana" panose="020B0604030504040204" pitchFamily="34" charset="0"/>
                <a:ea typeface="Verdana" panose="020B0604030504040204" pitchFamily="34" charset="0"/>
              </a:rPr>
            </a:br>
            <a:endParaRPr lang="en-IN"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73266F53-A752-F455-EEC8-BA70F683D833}"/>
              </a:ext>
            </a:extLst>
          </p:cNvPr>
          <p:cNvSpPr>
            <a:spLocks noGrp="1"/>
          </p:cNvSpPr>
          <p:nvPr>
            <p:ph type="body" idx="1"/>
          </p:nvPr>
        </p:nvSpPr>
        <p:spPr/>
        <p:txBody>
          <a:bodyPr>
            <a:normAutofit/>
          </a:bodyPr>
          <a:lstStyle/>
          <a:p>
            <a:pPr marL="76200" indent="0">
              <a:buNone/>
            </a:pPr>
            <a:r>
              <a:rPr lang="en-US" sz="2200" b="1" dirty="0">
                <a:latin typeface="+mn-lt"/>
              </a:rPr>
              <a:t>Develop an AI-based diagnostic tool</a:t>
            </a:r>
            <a:r>
              <a:rPr lang="en-US" sz="2200" dirty="0">
                <a:latin typeface="+mn-lt"/>
              </a:rPr>
              <a:t> capable of analyzing dermatological images and generating preliminary diagnoses with at least 90% classification accuracy.</a:t>
            </a:r>
          </a:p>
          <a:p>
            <a:pPr marL="76200" indent="0">
              <a:buNone/>
            </a:pPr>
            <a:r>
              <a:rPr lang="en-US" sz="2200" b="1" dirty="0">
                <a:latin typeface="+mn-lt"/>
              </a:rPr>
              <a:t>Implement transfer learning using CNN architectures</a:t>
            </a:r>
            <a:r>
              <a:rPr lang="en-US" sz="2200" dirty="0">
                <a:latin typeface="+mn-lt"/>
              </a:rPr>
              <a:t> (e.g., EfficientNet, ResNet) to achieve fast and reliable predictions even with limited datasets.</a:t>
            </a:r>
          </a:p>
          <a:p>
            <a:pPr marL="76200" indent="0">
              <a:buNone/>
            </a:pPr>
            <a:r>
              <a:rPr lang="en-US" sz="2200" b="1" dirty="0">
                <a:latin typeface="+mn-lt"/>
              </a:rPr>
              <a:t>Integrate explainability techniques (Grad-CAM/heatmaps)</a:t>
            </a:r>
            <a:r>
              <a:rPr lang="en-US" sz="2200" dirty="0">
                <a:latin typeface="+mn-lt"/>
              </a:rPr>
              <a:t> to provide visual justifications for model predictions, improving trust among clinicians and users.</a:t>
            </a:r>
          </a:p>
          <a:p>
            <a:pPr marL="76200" indent="0">
              <a:buNone/>
            </a:pPr>
            <a:r>
              <a:rPr lang="en-US" sz="2200" b="1" dirty="0">
                <a:latin typeface="+mn-lt"/>
              </a:rPr>
              <a:t>Evaluate performance across diverse skin tones and conditions</a:t>
            </a:r>
            <a:r>
              <a:rPr lang="en-US" sz="2200" dirty="0">
                <a:latin typeface="+mn-lt"/>
              </a:rPr>
              <a:t>, ensuring fairness and generalization of the system by testing with benchmark datasets like HAM10000 and ISIC.</a:t>
            </a:r>
          </a:p>
          <a:p>
            <a:pPr marL="76200" indent="0">
              <a:buNone/>
            </a:pPr>
            <a:r>
              <a:rPr lang="en-US" sz="2200" b="1" dirty="0">
                <a:latin typeface="+mn-lt"/>
              </a:rPr>
              <a:t>Deploy a lightweight prototype</a:t>
            </a:r>
            <a:r>
              <a:rPr lang="en-US" sz="2200" dirty="0">
                <a:latin typeface="+mn-lt"/>
              </a:rPr>
              <a:t> on web platform to demonstrate real-time usability in tele-dermatology and community healthcare settings.</a:t>
            </a:r>
          </a:p>
        </p:txBody>
      </p:sp>
    </p:spTree>
    <p:extLst>
      <p:ext uri="{BB962C8B-B14F-4D97-AF65-F5344CB8AC3E}">
        <p14:creationId xmlns:p14="http://schemas.microsoft.com/office/powerpoint/2010/main" val="168919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C9E26-4578-BE97-2B13-A24AC19BD8A3}"/>
              </a:ext>
            </a:extLst>
          </p:cNvPr>
          <p:cNvSpPr>
            <a:spLocks noGrp="1"/>
          </p:cNvSpPr>
          <p:nvPr>
            <p:ph type="title"/>
          </p:nvPr>
        </p:nvSpPr>
        <p:spPr>
          <a:xfrm>
            <a:off x="812800" y="242687"/>
            <a:ext cx="10668000" cy="686260"/>
          </a:xfrm>
        </p:spPr>
        <p:txBody>
          <a:bodyPr/>
          <a:lstStyle/>
          <a:p>
            <a:r>
              <a:rPr lang="en-US" dirty="0"/>
              <a:t>Existing </a:t>
            </a:r>
            <a:r>
              <a:rPr lang="en-US" dirty="0">
                <a:latin typeface="+mj-lt"/>
              </a:rPr>
              <a:t>Methods</a:t>
            </a:r>
            <a:r>
              <a:rPr lang="en-US" dirty="0"/>
              <a:t> and Drawbacks</a:t>
            </a:r>
          </a:p>
        </p:txBody>
      </p:sp>
      <p:sp>
        <p:nvSpPr>
          <p:cNvPr id="3" name="Text Placeholder 2">
            <a:extLst>
              <a:ext uri="{FF2B5EF4-FFF2-40B4-BE49-F238E27FC236}">
                <a16:creationId xmlns:a16="http://schemas.microsoft.com/office/drawing/2014/main" id="{A691174F-66A7-3B6D-1297-BD9E351799B1}"/>
              </a:ext>
            </a:extLst>
          </p:cNvPr>
          <p:cNvSpPr>
            <a:spLocks noGrp="1"/>
          </p:cNvSpPr>
          <p:nvPr>
            <p:ph type="body" idx="1"/>
          </p:nvPr>
        </p:nvSpPr>
        <p:spPr/>
        <p:txBody>
          <a:bodyPr>
            <a:normAutofit fontScale="85000" lnSpcReduction="10000"/>
          </a:bodyPr>
          <a:lstStyle/>
          <a:p>
            <a:pPr marL="76200" indent="0">
              <a:buNone/>
            </a:pPr>
            <a:r>
              <a:rPr lang="en-US" dirty="0">
                <a:latin typeface="+mn-lt"/>
              </a:rPr>
              <a:t>Over the past decade, AI-based approaches for skin disease detection have shown remarkable accuracy, particularly in distinguishing melanoma from benign lesions. Most of these systems rely on deep learning models trained on benchmark datasets such as HAM10000 and ISIC, achieving performance levels comparable to dermatologists under controlled conditions. However, these methods generally </a:t>
            </a:r>
            <a:r>
              <a:rPr lang="en-US" b="1" dirty="0">
                <a:latin typeface="+mn-lt"/>
              </a:rPr>
              <a:t>concentrate on a narrow set of conditions rather than covering the wide variety of dermatological manifestations </a:t>
            </a:r>
            <a:r>
              <a:rPr lang="en-US" dirty="0">
                <a:latin typeface="+mn-lt"/>
              </a:rPr>
              <a:t>encountered in real clinical practice. Another major drawback lies in their dependence on </a:t>
            </a:r>
            <a:r>
              <a:rPr lang="en-US" b="1" dirty="0">
                <a:latin typeface="+mn-lt"/>
              </a:rPr>
              <a:t>dermoscopic images</a:t>
            </a:r>
            <a:r>
              <a:rPr lang="en-US" dirty="0">
                <a:latin typeface="+mn-lt"/>
              </a:rPr>
              <a:t>, which are captured under controlled lighting and magnification, limiting their ability to generalize to everyday clinical or smartphone photographs. Furthermore, </a:t>
            </a:r>
            <a:r>
              <a:rPr lang="en-US" b="1" dirty="0">
                <a:latin typeface="+mn-lt"/>
              </a:rPr>
              <a:t>the lack of demographic diversity in training datasets</a:t>
            </a:r>
            <a:r>
              <a:rPr lang="en-US" dirty="0">
                <a:latin typeface="+mn-lt"/>
              </a:rPr>
              <a:t>—especially the underrepresentation of darker skin tones—raises concerns about fairness and bias, leading to reduced diagnostic reliability across populations. In addition, while many studies report high accuracy, </a:t>
            </a:r>
            <a:r>
              <a:rPr lang="en-US" b="1" dirty="0">
                <a:latin typeface="+mn-lt"/>
              </a:rPr>
              <a:t>very few incorporate explainability features</a:t>
            </a:r>
            <a:r>
              <a:rPr lang="en-US" dirty="0">
                <a:latin typeface="+mn-lt"/>
              </a:rPr>
              <a:t>, making it difficult for clinicians to trust and validate the model’s decision-making process. These limitations highlight the need for more inclusive, interpretable, and deployable solutions that go beyond the lab setting and can support real-world healthcare environments.</a:t>
            </a:r>
          </a:p>
        </p:txBody>
      </p:sp>
    </p:spTree>
    <p:extLst>
      <p:ext uri="{BB962C8B-B14F-4D97-AF65-F5344CB8AC3E}">
        <p14:creationId xmlns:p14="http://schemas.microsoft.com/office/powerpoint/2010/main" val="1010322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AFCD1-43E6-72B7-BC82-FEC93D76D2CA}"/>
              </a:ext>
            </a:extLst>
          </p:cNvPr>
          <p:cNvSpPr>
            <a:spLocks noGrp="1"/>
          </p:cNvSpPr>
          <p:nvPr>
            <p:ph type="title"/>
          </p:nvPr>
        </p:nvSpPr>
        <p:spPr>
          <a:xfrm>
            <a:off x="812800" y="395824"/>
            <a:ext cx="10668000" cy="487500"/>
          </a:xfrm>
        </p:spPr>
        <p:txBody>
          <a:bodyPr/>
          <a:lstStyle/>
          <a:p>
            <a:r>
              <a:rPr lang="en-IN" dirty="0"/>
              <a:t>Proposed Method &amp; Feasibility Study</a:t>
            </a:r>
            <a:endParaRPr lang="en-IN"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F410F5DE-FF12-B28F-5208-885434C50FB6}"/>
              </a:ext>
            </a:extLst>
          </p:cNvPr>
          <p:cNvSpPr>
            <a:spLocks noGrp="1"/>
          </p:cNvSpPr>
          <p:nvPr>
            <p:ph type="body" idx="1"/>
          </p:nvPr>
        </p:nvSpPr>
        <p:spPr/>
        <p:txBody>
          <a:bodyPr>
            <a:normAutofit/>
          </a:bodyPr>
          <a:lstStyle/>
          <a:p>
            <a:pPr marL="76200" indent="0">
              <a:buNone/>
            </a:pPr>
            <a:r>
              <a:rPr lang="en-US" sz="2200" dirty="0">
                <a:latin typeface="+mn-lt"/>
              </a:rPr>
              <a:t>The proposed project focuses on building an AI-based tool for preliminary dermatological diagnosis by combining deep learning with explainable AI. The workflow begins with the collection of a large and diverse dataset of skin lesion images, including both dermoscopic and clinical photographs, to ensure that the system can recognize a wide spectrum of conditions across different skin tones and age groups. Preprocessing techniques such as image enhancement, segmentation, and normalization will be applied to minimize noise and handle variations in lighting or image quality. Feature extraction and classification will be carried out using Convolutional Neural Networks, while transfer learning with established architectures such as ResNet or EfficientNet will be utilized to improve performance and reduce training time. To build user trust, explainable AI methods like Grad-CAM will be integrated, providing visual heatmaps along with confidence scores for each prediction.</a:t>
            </a:r>
          </a:p>
        </p:txBody>
      </p:sp>
    </p:spTree>
    <p:extLst>
      <p:ext uri="{BB962C8B-B14F-4D97-AF65-F5344CB8AC3E}">
        <p14:creationId xmlns:p14="http://schemas.microsoft.com/office/powerpoint/2010/main" val="1170291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F7E1C-9F5F-BCA1-84D6-027E2C938650}"/>
              </a:ext>
            </a:extLst>
          </p:cNvPr>
          <p:cNvSpPr>
            <a:spLocks noGrp="1"/>
          </p:cNvSpPr>
          <p:nvPr>
            <p:ph type="title"/>
          </p:nvPr>
        </p:nvSpPr>
        <p:spPr>
          <a:xfrm>
            <a:off x="812800" y="373790"/>
            <a:ext cx="10668000" cy="487500"/>
          </a:xfrm>
        </p:spPr>
        <p:txBody>
          <a:bodyPr/>
          <a:lstStyle/>
          <a:p>
            <a:r>
              <a:rPr lang="en-IN" dirty="0"/>
              <a:t>Proposed Method &amp; Feasibility Study</a:t>
            </a:r>
            <a:endParaRPr lang="en-IN" dirty="0">
              <a:latin typeface="Verdana" panose="020B0604030504040204" pitchFamily="34" charset="0"/>
              <a:ea typeface="Verdana" panose="020B0604030504040204" pitchFamily="34" charset="0"/>
            </a:endParaRPr>
          </a:p>
        </p:txBody>
      </p:sp>
      <p:sp>
        <p:nvSpPr>
          <p:cNvPr id="3" name="Text Placeholder 2">
            <a:extLst>
              <a:ext uri="{FF2B5EF4-FFF2-40B4-BE49-F238E27FC236}">
                <a16:creationId xmlns:a16="http://schemas.microsoft.com/office/drawing/2014/main" id="{F33CBC31-C2EB-B1EC-1DE3-E67FEC8CA690}"/>
              </a:ext>
            </a:extLst>
          </p:cNvPr>
          <p:cNvSpPr>
            <a:spLocks noGrp="1"/>
          </p:cNvSpPr>
          <p:nvPr>
            <p:ph type="body" idx="1"/>
          </p:nvPr>
        </p:nvSpPr>
        <p:spPr/>
        <p:txBody>
          <a:bodyPr>
            <a:noAutofit/>
          </a:bodyPr>
          <a:lstStyle/>
          <a:p>
            <a:pPr marL="76200" indent="0">
              <a:buNone/>
            </a:pPr>
            <a:r>
              <a:rPr lang="en-US" sz="2000" dirty="0">
                <a:latin typeface="+mn-lt"/>
              </a:rPr>
              <a:t>The innovation of this project lies in its goal to design a </a:t>
            </a:r>
            <a:r>
              <a:rPr lang="en-US" sz="2000" b="1" dirty="0">
                <a:latin typeface="+mn-lt"/>
              </a:rPr>
              <a:t>generalized diagnostic system</a:t>
            </a:r>
            <a:r>
              <a:rPr lang="en-US" sz="2000" dirty="0">
                <a:latin typeface="+mn-lt"/>
              </a:rPr>
              <a:t> capable of identifying multiple dermatological manifestations, unlike existing models that are often disease-specific or biased toward certain datasets. The system emphasizes inclusivity by ensuring robust performance across diverse skin tones, while also integrating interpretability features that empower both healthcare providers and patients to trust the results. Instead of acting as a replacement for dermatologists, the tool functions as a decision-support system, improving triage, early detection, and timely referral.</a:t>
            </a:r>
          </a:p>
          <a:p>
            <a:pPr marL="76200" indent="0">
              <a:buNone/>
            </a:pPr>
            <a:r>
              <a:rPr lang="en-US" sz="2000" dirty="0">
                <a:latin typeface="+mn-lt"/>
              </a:rPr>
              <a:t>In terms of feasibility, the project is well justified both technologically and economically. Open-source frameworks such as TensorFlow and </a:t>
            </a:r>
            <a:r>
              <a:rPr lang="en-US" sz="2000" dirty="0" err="1">
                <a:latin typeface="+mn-lt"/>
              </a:rPr>
              <a:t>PyTorch</a:t>
            </a:r>
            <a:r>
              <a:rPr lang="en-US" sz="2000" dirty="0">
                <a:latin typeface="+mn-lt"/>
              </a:rPr>
              <a:t> eliminate licensing costs, while transfer learning reduces the need for expensive hardware by enabling training on affordable GPU-enabled systems or cloud platforms. Deployment as a lightweight </a:t>
            </a:r>
            <a:r>
              <a:rPr lang="en-US" sz="2000" b="1" dirty="0">
                <a:latin typeface="+mn-lt"/>
              </a:rPr>
              <a:t>web application</a:t>
            </a:r>
            <a:r>
              <a:rPr lang="en-US" sz="2000" dirty="0">
                <a:latin typeface="+mn-lt"/>
              </a:rPr>
              <a:t> further ensures accessibility without requiring high-end devices. By leveraging widely available datasets such as HAM10000 and ISIC, the development cost and data collection effort are minimized, making the system practical, resource-efficient, and suitable for real-world healthcare environments.</a:t>
            </a:r>
          </a:p>
        </p:txBody>
      </p:sp>
    </p:spTree>
    <p:extLst>
      <p:ext uri="{BB962C8B-B14F-4D97-AF65-F5344CB8AC3E}">
        <p14:creationId xmlns:p14="http://schemas.microsoft.com/office/powerpoint/2010/main" val="131590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10A9-7562-B867-28ED-41FE04971397}"/>
              </a:ext>
            </a:extLst>
          </p:cNvPr>
          <p:cNvSpPr>
            <a:spLocks noGrp="1"/>
          </p:cNvSpPr>
          <p:nvPr>
            <p:ph type="title"/>
          </p:nvPr>
        </p:nvSpPr>
        <p:spPr>
          <a:xfrm>
            <a:off x="761999" y="356668"/>
            <a:ext cx="10668000" cy="487500"/>
          </a:xfrm>
        </p:spPr>
        <p:txBody>
          <a:bodyPr/>
          <a:lstStyle/>
          <a:p>
            <a:r>
              <a:rPr lang="en-IN" dirty="0"/>
              <a:t>Architecture Diagram</a:t>
            </a:r>
          </a:p>
        </p:txBody>
      </p:sp>
      <p:pic>
        <p:nvPicPr>
          <p:cNvPr id="8" name="Picture 7">
            <a:extLst>
              <a:ext uri="{FF2B5EF4-FFF2-40B4-BE49-F238E27FC236}">
                <a16:creationId xmlns:a16="http://schemas.microsoft.com/office/drawing/2014/main" id="{E4F7F053-EA27-D72D-DD92-E44CBCEEF514}"/>
              </a:ext>
            </a:extLst>
          </p:cNvPr>
          <p:cNvPicPr>
            <a:picLocks noChangeAspect="1"/>
          </p:cNvPicPr>
          <p:nvPr/>
        </p:nvPicPr>
        <p:blipFill>
          <a:blip r:embed="rId2"/>
          <a:stretch>
            <a:fillRect/>
          </a:stretch>
        </p:blipFill>
        <p:spPr>
          <a:xfrm>
            <a:off x="2233711" y="1284271"/>
            <a:ext cx="7724577" cy="4884660"/>
          </a:xfrm>
          <a:prstGeom prst="rect">
            <a:avLst/>
          </a:prstGeom>
        </p:spPr>
      </p:pic>
    </p:spTree>
    <p:extLst>
      <p:ext uri="{BB962C8B-B14F-4D97-AF65-F5344CB8AC3E}">
        <p14:creationId xmlns:p14="http://schemas.microsoft.com/office/powerpoint/2010/main" val="4022434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7E660-ABCF-BA57-02A1-65DE2B52EB1D}"/>
              </a:ext>
            </a:extLst>
          </p:cNvPr>
          <p:cNvSpPr>
            <a:spLocks noGrp="1"/>
          </p:cNvSpPr>
          <p:nvPr>
            <p:ph type="title"/>
          </p:nvPr>
        </p:nvSpPr>
        <p:spPr/>
        <p:txBody>
          <a:bodyPr/>
          <a:lstStyle/>
          <a:p>
            <a:r>
              <a:rPr lang="en-IN" dirty="0"/>
              <a:t>Architecture Diagram</a:t>
            </a:r>
          </a:p>
        </p:txBody>
      </p:sp>
      <p:sp>
        <p:nvSpPr>
          <p:cNvPr id="3" name="Text Placeholder 2">
            <a:extLst>
              <a:ext uri="{FF2B5EF4-FFF2-40B4-BE49-F238E27FC236}">
                <a16:creationId xmlns:a16="http://schemas.microsoft.com/office/drawing/2014/main" id="{BED7302E-5B32-691A-A085-DB2BD3E84631}"/>
              </a:ext>
            </a:extLst>
          </p:cNvPr>
          <p:cNvSpPr>
            <a:spLocks noGrp="1"/>
          </p:cNvSpPr>
          <p:nvPr>
            <p:ph type="body" idx="1"/>
          </p:nvPr>
        </p:nvSpPr>
        <p:spPr/>
        <p:txBody>
          <a:bodyPr>
            <a:normAutofit/>
          </a:bodyPr>
          <a:lstStyle/>
          <a:p>
            <a:r>
              <a:rPr lang="en-US" sz="2200" b="1" dirty="0">
                <a:latin typeface="+mn-lt"/>
              </a:rPr>
              <a:t>Data Layer</a:t>
            </a:r>
            <a:r>
              <a:rPr lang="en-US" sz="2200" dirty="0">
                <a:latin typeface="+mn-lt"/>
              </a:rPr>
              <a:t>: Collects and stores dermatological images from datasets (e.g., HAM10000) covering diverse conditions and skin tones.</a:t>
            </a:r>
          </a:p>
          <a:p>
            <a:r>
              <a:rPr lang="en-US" sz="2200" b="1" dirty="0">
                <a:latin typeface="+mn-lt"/>
              </a:rPr>
              <a:t>Preprocessing Layer</a:t>
            </a:r>
            <a:r>
              <a:rPr lang="en-US" sz="2200" dirty="0">
                <a:latin typeface="+mn-lt"/>
              </a:rPr>
              <a:t>: Cleans images, removes noise, normalizes resolutions, and applies augmentation to improve model robustness.</a:t>
            </a:r>
          </a:p>
          <a:p>
            <a:r>
              <a:rPr lang="en-US" sz="2200" b="1" dirty="0">
                <a:latin typeface="+mn-lt"/>
              </a:rPr>
              <a:t>AI/Model Layer</a:t>
            </a:r>
            <a:r>
              <a:rPr lang="en-US" sz="2200" dirty="0">
                <a:latin typeface="+mn-lt"/>
              </a:rPr>
              <a:t>: Uses CNNs with transfer learning (e.g., ResNet, EfficientNet) for feature extraction and classification of skin lesions.</a:t>
            </a:r>
          </a:p>
          <a:p>
            <a:r>
              <a:rPr lang="en-US" sz="2200" b="1" dirty="0">
                <a:latin typeface="+mn-lt"/>
              </a:rPr>
              <a:t>Explainable AI Layer</a:t>
            </a:r>
            <a:r>
              <a:rPr lang="en-US" sz="2200" dirty="0">
                <a:latin typeface="+mn-lt"/>
              </a:rPr>
              <a:t>: Integrates methods like Grad-CAM to highlight lesion areas, providing confidence scores and visual reasoning for predictions.</a:t>
            </a:r>
          </a:p>
          <a:p>
            <a:r>
              <a:rPr lang="en-US" sz="2200" b="1" dirty="0">
                <a:latin typeface="+mn-lt"/>
              </a:rPr>
              <a:t>Application Layer</a:t>
            </a:r>
            <a:r>
              <a:rPr lang="en-US" sz="2200" dirty="0">
                <a:latin typeface="+mn-lt"/>
              </a:rPr>
              <a:t>: A web-based interface where patients and healthcare professionals can upload images, view results, and access diagnostic reports.</a:t>
            </a:r>
          </a:p>
          <a:p>
            <a:endParaRPr lang="en-IN" sz="2200" dirty="0">
              <a:latin typeface="+mn-lt"/>
            </a:endParaRPr>
          </a:p>
        </p:txBody>
      </p:sp>
    </p:spTree>
    <p:extLst>
      <p:ext uri="{BB962C8B-B14F-4D97-AF65-F5344CB8AC3E}">
        <p14:creationId xmlns:p14="http://schemas.microsoft.com/office/powerpoint/2010/main" val="3805147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8BF3-3FB3-0199-EF20-55FA795F6665}"/>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BF261FEA-0F6E-AD03-038D-0632948F5D6D}"/>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801123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274500"/>
            <a:ext cx="10668000" cy="487500"/>
          </a:xfrm>
          <a:prstGeom prst="rect">
            <a:avLst/>
          </a:prstGeom>
          <a:noFill/>
          <a:ln>
            <a:noFill/>
          </a:ln>
        </p:spPr>
        <p:txBody>
          <a:bodyPr spcFirstLastPara="1" wrap="square" lIns="91425" tIns="45700" rIns="91425" bIns="45700" anchor="ctr" anchorCtr="0">
            <a:noAutofit/>
          </a:bodyPr>
          <a:lstStyle/>
          <a:p>
            <a:pPr marL="76200"/>
            <a:r>
              <a:rPr lang="en-IN" sz="3200" dirty="0">
                <a:latin typeface="Verdana" panose="020B0604030504040204" pitchFamily="34" charset="0"/>
                <a:ea typeface="Verdana" panose="020B0604030504040204" pitchFamily="34" charset="0"/>
              </a:rPr>
              <a:t>Technology Stack Components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IN" sz="2200" dirty="0">
                <a:latin typeface="+mn-lt"/>
              </a:rPr>
              <a:t>Programming Languages: Python (for AI/ML models), JavaScript/React (for web)</a:t>
            </a:r>
          </a:p>
          <a:p>
            <a:r>
              <a:rPr lang="en-IN" sz="2200" dirty="0">
                <a:latin typeface="+mn-lt"/>
              </a:rPr>
              <a:t>AI/ML Libraries: TensorFlow / </a:t>
            </a:r>
            <a:r>
              <a:rPr lang="en-IN" sz="2200" dirty="0" err="1">
                <a:latin typeface="+mn-lt"/>
              </a:rPr>
              <a:t>PyTorch</a:t>
            </a:r>
            <a:r>
              <a:rPr lang="en-IN" sz="2200" dirty="0">
                <a:latin typeface="+mn-lt"/>
              </a:rPr>
              <a:t>, </a:t>
            </a:r>
            <a:r>
              <a:rPr lang="en-IN" sz="2200" dirty="0" err="1">
                <a:latin typeface="+mn-lt"/>
              </a:rPr>
              <a:t>Keras</a:t>
            </a:r>
            <a:r>
              <a:rPr lang="en-IN" sz="2200" dirty="0">
                <a:latin typeface="+mn-lt"/>
              </a:rPr>
              <a:t>, OpenCV (for image preprocessing)</a:t>
            </a:r>
          </a:p>
          <a:p>
            <a:r>
              <a:rPr lang="en-IN" sz="2200" dirty="0">
                <a:latin typeface="+mn-lt"/>
              </a:rPr>
              <a:t>Frameworks: Flask / </a:t>
            </a:r>
            <a:r>
              <a:rPr lang="en-IN" sz="2200" dirty="0" err="1">
                <a:latin typeface="+mn-lt"/>
              </a:rPr>
              <a:t>FastAPI</a:t>
            </a:r>
            <a:r>
              <a:rPr lang="en-IN" sz="2200" dirty="0">
                <a:latin typeface="+mn-lt"/>
              </a:rPr>
              <a:t> (for backend)</a:t>
            </a:r>
          </a:p>
          <a:p>
            <a:r>
              <a:rPr lang="en-IN" sz="2200" dirty="0">
                <a:latin typeface="+mn-lt"/>
              </a:rPr>
              <a:t>Databases: MySQL / MongoDB (for patient data and model outputs)</a:t>
            </a:r>
          </a:p>
          <a:p>
            <a:r>
              <a:rPr lang="en-IN" sz="2200" dirty="0">
                <a:latin typeface="+mn-lt"/>
              </a:rPr>
              <a:t>Cloud Platforms: AWS / Google Cloud / Azure for hosting and model deployment</a:t>
            </a:r>
          </a:p>
          <a:p>
            <a:r>
              <a:rPr lang="en-IN" sz="2200" dirty="0">
                <a:latin typeface="+mn-lt"/>
              </a:rPr>
              <a:t>Visualization: Grad-CAM or LIME for explainable AI heatmaps</a:t>
            </a:r>
          </a:p>
          <a:p>
            <a:pPr marL="342900" lvl="0" indent="-190500" algn="just" rtl="0">
              <a:lnSpc>
                <a:spcPct val="200000"/>
              </a:lnSpc>
              <a:spcBef>
                <a:spcPts val="0"/>
              </a:spcBef>
              <a:spcAft>
                <a:spcPts val="0"/>
              </a:spcAft>
              <a:buClr>
                <a:schemeClr val="dk1"/>
              </a:buClr>
              <a:buSzPct val="100000"/>
              <a:buNone/>
            </a:pPr>
            <a:endParaRPr lang="en-US" sz="2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047C4-7404-7389-C830-FE732B7C59FF}"/>
              </a:ext>
            </a:extLst>
          </p:cNvPr>
          <p:cNvSpPr>
            <a:spLocks noGrp="1"/>
          </p:cNvSpPr>
          <p:nvPr>
            <p:ph type="title"/>
          </p:nvPr>
        </p:nvSpPr>
        <p:spPr/>
        <p:txBody>
          <a:bodyPr/>
          <a:lstStyle/>
          <a:p>
            <a:pPr marL="76200"/>
            <a:r>
              <a:rPr lang="en-IN" sz="3200" dirty="0">
                <a:latin typeface="+mj-lt"/>
              </a:rPr>
              <a:t>Software</a:t>
            </a:r>
            <a:r>
              <a:rPr lang="en-IN" sz="3200" dirty="0"/>
              <a:t> Requirements</a:t>
            </a:r>
          </a:p>
        </p:txBody>
      </p:sp>
      <p:sp>
        <p:nvSpPr>
          <p:cNvPr id="3" name="Text Placeholder 2">
            <a:extLst>
              <a:ext uri="{FF2B5EF4-FFF2-40B4-BE49-F238E27FC236}">
                <a16:creationId xmlns:a16="http://schemas.microsoft.com/office/drawing/2014/main" id="{B7141050-D698-0197-3985-123F71B8DFDE}"/>
              </a:ext>
            </a:extLst>
          </p:cNvPr>
          <p:cNvSpPr>
            <a:spLocks noGrp="1"/>
          </p:cNvSpPr>
          <p:nvPr>
            <p:ph type="body" idx="1"/>
          </p:nvPr>
        </p:nvSpPr>
        <p:spPr/>
        <p:txBody>
          <a:bodyPr>
            <a:normAutofit/>
          </a:bodyPr>
          <a:lstStyle/>
          <a:p>
            <a:r>
              <a:rPr lang="en-IN" sz="2200" dirty="0">
                <a:latin typeface="+mn-lt"/>
              </a:rPr>
              <a:t>OS: Windows / Linux / macOS (for development)</a:t>
            </a:r>
          </a:p>
          <a:p>
            <a:r>
              <a:rPr lang="en-IN" sz="2200" dirty="0">
                <a:latin typeface="+mn-lt"/>
              </a:rPr>
              <a:t>Development Tools: </a:t>
            </a:r>
            <a:r>
              <a:rPr lang="en-IN" sz="2200" dirty="0" err="1">
                <a:latin typeface="+mn-lt"/>
              </a:rPr>
              <a:t>Jupyter</a:t>
            </a:r>
            <a:r>
              <a:rPr lang="en-IN" sz="2200" dirty="0">
                <a:latin typeface="+mn-lt"/>
              </a:rPr>
              <a:t> Notebook, PyCharm / VS Code</a:t>
            </a:r>
          </a:p>
          <a:p>
            <a:r>
              <a:rPr lang="en-IN" sz="2200" dirty="0">
                <a:latin typeface="+mn-lt"/>
              </a:rPr>
              <a:t>Libraries: TensorFlow, </a:t>
            </a:r>
            <a:r>
              <a:rPr lang="en-IN" sz="2200" dirty="0" err="1">
                <a:latin typeface="+mn-lt"/>
              </a:rPr>
              <a:t>PyTorch</a:t>
            </a:r>
            <a:r>
              <a:rPr lang="en-IN" sz="2200" dirty="0">
                <a:latin typeface="+mn-lt"/>
              </a:rPr>
              <a:t>, OpenCV, scikit-learn, NumPy, Pandas, Matplotlib</a:t>
            </a:r>
          </a:p>
          <a:p>
            <a:r>
              <a:rPr lang="en-IN" sz="2200" dirty="0">
                <a:latin typeface="+mn-lt"/>
              </a:rPr>
              <a:t>Web Tools: Node.js, React.js (for frontend), Flask/</a:t>
            </a:r>
            <a:r>
              <a:rPr lang="en-IN" sz="2200" dirty="0" err="1">
                <a:latin typeface="+mn-lt"/>
              </a:rPr>
              <a:t>FastAPI</a:t>
            </a:r>
            <a:r>
              <a:rPr lang="en-IN" sz="2200" dirty="0">
                <a:latin typeface="+mn-lt"/>
              </a:rPr>
              <a:t> (for backend APIs)</a:t>
            </a:r>
          </a:p>
        </p:txBody>
      </p:sp>
    </p:spTree>
    <p:extLst>
      <p:ext uri="{BB962C8B-B14F-4D97-AF65-F5344CB8AC3E}">
        <p14:creationId xmlns:p14="http://schemas.microsoft.com/office/powerpoint/2010/main" val="2995677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Verdana" panose="020B0604030504040204" pitchFamily="34" charset="0"/>
                <a:ea typeface="Verdana" panose="020B0604030504040204" pitchFamily="34"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7" name="Rectangle 3">
            <a:extLst>
              <a:ext uri="{FF2B5EF4-FFF2-40B4-BE49-F238E27FC236}">
                <a16:creationId xmlns:a16="http://schemas.microsoft.com/office/drawing/2014/main" id="{77D673E7-D9F0-CC55-3E4D-394C44D1F8EF}"/>
              </a:ext>
            </a:extLst>
          </p:cNvPr>
          <p:cNvSpPr>
            <a:spLocks noChangeArrowheads="1"/>
          </p:cNvSpPr>
          <p:nvPr/>
        </p:nvSpPr>
        <p:spPr bwMode="auto">
          <a:xfrm>
            <a:off x="969485" y="143219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155CC"/>
                </a:solidFill>
                <a:effectLst/>
                <a:latin typeface="Arial" panose="020B0604020202020204" pitchFamily="34" charset="0"/>
                <a:cs typeface="Arial" panose="020B0604020202020204" pitchFamily="34" charset="0"/>
                <a:hlinkClick r:id="rId3"/>
              </a:rPr>
              <a:t>https://github.com/Stu-Affan/Capstone-Project/tree/main</a:t>
            </a:r>
            <a:r>
              <a:rPr kumimoji="0" lang="en-US" altLang="en-US" sz="1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6357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Verdana" panose="020B0604030504040204" pitchFamily="34" charset="0"/>
                <a:ea typeface="Verdana" panose="020B0604030504040204" pitchFamily="34" charset="0"/>
              </a:rPr>
              <a:t>Timeline of the Project (Gantt Chart)</a:t>
            </a:r>
            <a:endParaRPr dirty="0">
              <a:latin typeface="Verdana" panose="020B0604030504040204" pitchFamily="34" charset="0"/>
              <a:ea typeface="Verdana" panose="020B0604030504040204" pitchFamily="34" charset="0"/>
            </a:endParaRPr>
          </a:p>
        </p:txBody>
      </p:sp>
      <p:pic>
        <p:nvPicPr>
          <p:cNvPr id="10" name="Picture 9">
            <a:extLst>
              <a:ext uri="{FF2B5EF4-FFF2-40B4-BE49-F238E27FC236}">
                <a16:creationId xmlns:a16="http://schemas.microsoft.com/office/drawing/2014/main" id="{D28678D4-CA03-70AF-CAA6-57C2430B6A09}"/>
              </a:ext>
            </a:extLst>
          </p:cNvPr>
          <p:cNvPicPr>
            <a:picLocks noChangeAspect="1"/>
          </p:cNvPicPr>
          <p:nvPr/>
        </p:nvPicPr>
        <p:blipFill>
          <a:blip r:embed="rId3"/>
          <a:stretch>
            <a:fillRect/>
          </a:stretch>
        </p:blipFill>
        <p:spPr>
          <a:xfrm>
            <a:off x="812800" y="1006667"/>
            <a:ext cx="10668000" cy="498316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lvl="0"/>
            <a:r>
              <a:rPr lang="en-GB" dirty="0">
                <a:latin typeface="Verdana" panose="020B0604030504040204" pitchFamily="34" charset="0"/>
                <a:ea typeface="Verdana" panose="020B0604030504040204" pitchFamily="34" charset="0"/>
              </a:rPr>
              <a:t>References (IEEE Paper format)</a:t>
            </a:r>
            <a:endParaRPr dirty="0">
              <a:latin typeface="Verdana" panose="020B0604030504040204" pitchFamily="34" charset="0"/>
              <a:ea typeface="Verdana" panose="020B0604030504040204" pitchFamily="34" charset="0"/>
            </a:endParaRPr>
          </a:p>
        </p:txBody>
      </p:sp>
      <p:sp>
        <p:nvSpPr>
          <p:cNvPr id="7" name="Rectangle 2">
            <a:extLst>
              <a:ext uri="{FF2B5EF4-FFF2-40B4-BE49-F238E27FC236}">
                <a16:creationId xmlns:a16="http://schemas.microsoft.com/office/drawing/2014/main" id="{8524F423-86EB-8AA0-6BB0-C365357068C1}"/>
              </a:ext>
            </a:extLst>
          </p:cNvPr>
          <p:cNvSpPr>
            <a:spLocks noGrp="1" noChangeArrowheads="1"/>
          </p:cNvSpPr>
          <p:nvPr>
            <p:ph type="body" idx="1"/>
          </p:nvPr>
        </p:nvSpPr>
        <p:spPr bwMode="auto">
          <a:xfrm>
            <a:off x="812800" y="1014165"/>
            <a:ext cx="10927508" cy="6855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mn-lt"/>
              </a:rPr>
              <a:t>[1] </a:t>
            </a:r>
            <a:r>
              <a:rPr kumimoji="0" lang="en-US" altLang="en-US" sz="2200" i="0" u="none" strike="noStrike" cap="none" normalizeH="0" baseline="0" dirty="0">
                <a:ln>
                  <a:noFill/>
                </a:ln>
                <a:solidFill>
                  <a:schemeClr val="tx1"/>
                </a:solidFill>
                <a:effectLst/>
                <a:latin typeface="+mn-lt"/>
              </a:rPr>
              <a:t>A. Esteva, B. </a:t>
            </a:r>
            <a:r>
              <a:rPr kumimoji="0" lang="en-US" altLang="en-US" sz="2200" i="0" u="none" strike="noStrike" cap="none" normalizeH="0" baseline="0" dirty="0" err="1">
                <a:ln>
                  <a:noFill/>
                </a:ln>
                <a:solidFill>
                  <a:schemeClr val="tx1"/>
                </a:solidFill>
                <a:effectLst/>
                <a:latin typeface="+mn-lt"/>
              </a:rPr>
              <a:t>Kuprel</a:t>
            </a:r>
            <a:r>
              <a:rPr kumimoji="0" lang="en-US" altLang="en-US" sz="2200" i="0" u="none" strike="noStrike" cap="none" normalizeH="0" baseline="0" dirty="0">
                <a:ln>
                  <a:noFill/>
                </a:ln>
                <a:solidFill>
                  <a:schemeClr val="tx1"/>
                </a:solidFill>
                <a:effectLst/>
                <a:latin typeface="+mn-lt"/>
              </a:rPr>
              <a:t>, R. A. Novoa, J. Ko, S. M. </a:t>
            </a:r>
            <a:r>
              <a:rPr kumimoji="0" lang="en-US" altLang="en-US" sz="2200" i="0" u="none" strike="noStrike" cap="none" normalizeH="0" baseline="0" dirty="0" err="1">
                <a:ln>
                  <a:noFill/>
                </a:ln>
                <a:solidFill>
                  <a:schemeClr val="tx1"/>
                </a:solidFill>
                <a:effectLst/>
                <a:latin typeface="+mn-lt"/>
              </a:rPr>
              <a:t>Swetter</a:t>
            </a:r>
            <a:r>
              <a:rPr kumimoji="0" lang="en-US" altLang="en-US" sz="2200" i="0" u="none" strike="noStrike" cap="none" normalizeH="0" baseline="0" dirty="0">
                <a:ln>
                  <a:noFill/>
                </a:ln>
                <a:solidFill>
                  <a:schemeClr val="tx1"/>
                </a:solidFill>
                <a:effectLst/>
                <a:latin typeface="+mn-lt"/>
              </a:rPr>
              <a:t>, H. M. Blau, and S. Thrun,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rPr>
              <a:t>“Dermatologist-level classification of skin cancer with deep neural networks,” Nature, vol. 542, no. 7639, pp. 115–118, Feb. 2017.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hlinkClick r:id="rId3"/>
              </a:rPr>
              <a:t>https://doi.org/10.1038/nature21056</a:t>
            </a:r>
            <a:endParaRPr kumimoji="0" lang="en-US" altLang="en-US" sz="22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mn-lt"/>
                <a:hlinkClick r:id="rId4"/>
              </a:rPr>
              <a:t>https://www.andreesteva.com/assets/nature_skincancer.pdf</a:t>
            </a:r>
            <a:endParaRPr kumimoji="0" lang="en-US" altLang="en-US" sz="22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200" dirty="0">
              <a:solidFill>
                <a:schemeClr val="tx1"/>
              </a:solidFill>
              <a:latin typeface="+mn-lt"/>
            </a:endParaRPr>
          </a:p>
          <a:p>
            <a:pPr marL="76200" indent="0">
              <a:buNone/>
            </a:pPr>
            <a:r>
              <a:rPr lang="en-US" sz="2200" b="1" dirty="0">
                <a:latin typeface="+mn-lt"/>
              </a:rPr>
              <a:t>[2] </a:t>
            </a:r>
            <a:r>
              <a:rPr lang="en-US" sz="2200" dirty="0">
                <a:latin typeface="+mn-lt"/>
              </a:rPr>
              <a:t>P. Tschandl, C. Rosendahl, and H. Kittler, “The HAM10000 dataset, a large collection of multi-source dermatoscopic images of common pigmented skin lesions,” </a:t>
            </a:r>
            <a:r>
              <a:rPr lang="en-US" sz="2200" i="1" dirty="0">
                <a:latin typeface="+mn-lt"/>
              </a:rPr>
              <a:t>Scientific Data</a:t>
            </a:r>
            <a:r>
              <a:rPr lang="en-US" sz="2200" dirty="0">
                <a:latin typeface="+mn-lt"/>
              </a:rPr>
              <a:t>, vol. 5, p. 180161, 2018.  </a:t>
            </a:r>
          </a:p>
          <a:p>
            <a:pPr marL="76200" indent="0">
              <a:buNone/>
            </a:pPr>
            <a:r>
              <a:rPr lang="en-US" sz="2200" dirty="0">
                <a:latin typeface="+mn-lt"/>
                <a:hlinkClick r:id="rId5"/>
              </a:rPr>
              <a:t>https://www.nature.com/articles/sdata2018161</a:t>
            </a:r>
            <a:endParaRPr lang="en-US" sz="2200" dirty="0">
              <a:latin typeface="+mn-lt"/>
            </a:endParaRPr>
          </a:p>
          <a:p>
            <a:pPr marL="76200" indent="0">
              <a:buNone/>
            </a:pPr>
            <a:endParaRPr lang="en-US" sz="2200" dirty="0">
              <a:latin typeface="+mn-lt"/>
            </a:endParaRPr>
          </a:p>
          <a:p>
            <a:pPr marL="76200" indent="0">
              <a:buNone/>
            </a:pPr>
            <a:r>
              <a:rPr lang="en-US" sz="2200" b="1" dirty="0">
                <a:latin typeface="+mn-lt"/>
              </a:rPr>
              <a:t>[3] </a:t>
            </a:r>
            <a:r>
              <a:rPr lang="en-US" sz="2200" dirty="0">
                <a:latin typeface="+mn-lt"/>
              </a:rPr>
              <a:t>Balazs Harangi , “Skin lesion classification with ensembles of deep convolutional neural networks,”  Journal of Biomedical Informatics, vol 86, pg.25-32, Oct 2018.</a:t>
            </a:r>
            <a:r>
              <a:rPr lang="en-IN" sz="2200" dirty="0">
                <a:latin typeface="+mn-lt"/>
                <a:hlinkClick r:id="rId6" tooltip="Persistent link using digital object identifier"/>
              </a:rPr>
              <a:t> </a:t>
            </a:r>
          </a:p>
          <a:p>
            <a:pPr marL="76200" indent="0">
              <a:buNone/>
            </a:pPr>
            <a:r>
              <a:rPr lang="en-IN" sz="2200" dirty="0">
                <a:latin typeface="+mn-lt"/>
                <a:hlinkClick r:id="rId6" tooltip="Persistent link using digital object identifier"/>
              </a:rPr>
              <a:t>https://doi.org/10.1016/j.jbi.2018.08.006</a:t>
            </a:r>
            <a:br>
              <a:rPr lang="en-US" sz="2200" dirty="0">
                <a:latin typeface="+mn-lt"/>
              </a:rPr>
            </a:br>
            <a:endParaRPr lang="en-US" sz="2200" dirty="0">
              <a:latin typeface="+mn-lt"/>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76200" indent="0">
              <a:buNone/>
            </a:pPr>
            <a:endParaRPr lang="en-US" altLang="en-US" sz="1800" dirty="0">
              <a:solidFill>
                <a:schemeClr val="tx1"/>
              </a:solidFill>
              <a:latin typeface="Arial" panose="020B0604020202020204" pitchFamily="34" charset="0"/>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76200" indent="0">
              <a:buNone/>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ACCB-587D-74F0-B545-9540E77C73B9}"/>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References (IEEE Paper format)</a:t>
            </a:r>
            <a:endParaRPr lang="en-IN" dirty="0"/>
          </a:p>
        </p:txBody>
      </p:sp>
      <p:sp>
        <p:nvSpPr>
          <p:cNvPr id="3" name="Text Placeholder 2">
            <a:extLst>
              <a:ext uri="{FF2B5EF4-FFF2-40B4-BE49-F238E27FC236}">
                <a16:creationId xmlns:a16="http://schemas.microsoft.com/office/drawing/2014/main" id="{1FD83F7B-95CA-296E-C36D-AEBB65280CFE}"/>
              </a:ext>
            </a:extLst>
          </p:cNvPr>
          <p:cNvSpPr>
            <a:spLocks noGrp="1"/>
          </p:cNvSpPr>
          <p:nvPr>
            <p:ph type="body" idx="1"/>
          </p:nvPr>
        </p:nvSpPr>
        <p:spPr/>
        <p:txBody>
          <a:bodyPr>
            <a:normAutofit lnSpcReduction="10000"/>
          </a:bodyPr>
          <a:lstStyle/>
          <a:p>
            <a:pPr marL="76200" indent="0">
              <a:buNone/>
            </a:pPr>
            <a:r>
              <a:rPr lang="en-IN" sz="2000" b="1" dirty="0">
                <a:latin typeface="+mn-lt"/>
              </a:rPr>
              <a:t>[4]</a:t>
            </a:r>
            <a:r>
              <a:rPr lang="en-IN" sz="2000" dirty="0">
                <a:latin typeface="+mn-lt"/>
              </a:rPr>
              <a:t> H. Liu, Y. Zhang, and X. Zhang, “A skin disease classification model based on multi-scale combined efficient channel attention module,” </a:t>
            </a:r>
            <a:r>
              <a:rPr lang="en-IN" sz="2000" i="1" dirty="0">
                <a:latin typeface="+mn-lt"/>
              </a:rPr>
              <a:t>Scientific Reports</a:t>
            </a:r>
            <a:r>
              <a:rPr lang="en-IN" sz="2000" dirty="0">
                <a:latin typeface="+mn-lt"/>
              </a:rPr>
              <a:t>, vol. 15, no. 6116, 2025. </a:t>
            </a:r>
            <a:r>
              <a:rPr lang="en-IN" sz="2000" dirty="0">
                <a:latin typeface="+mn-lt"/>
                <a:hlinkClick r:id="rId2"/>
              </a:rPr>
              <a:t>https://www.nature.com/articles/s41598-025-90418-0</a:t>
            </a:r>
            <a:endParaRPr lang="en-IN" sz="2000" dirty="0">
              <a:latin typeface="+mn-lt"/>
            </a:endParaRPr>
          </a:p>
          <a:p>
            <a:pPr marL="76200" indent="0">
              <a:buNone/>
            </a:pPr>
            <a:endParaRPr lang="en-IN" sz="2000" dirty="0">
              <a:latin typeface="+mn-lt"/>
            </a:endParaRPr>
          </a:p>
          <a:p>
            <a:pPr marL="76200" indent="0">
              <a:buNone/>
            </a:pPr>
            <a:r>
              <a:rPr lang="en-IN" sz="2000" b="1" dirty="0">
                <a:latin typeface="+mn-lt"/>
              </a:rPr>
              <a:t>[5]</a:t>
            </a:r>
            <a:r>
              <a:rPr lang="en-IN" sz="2000" dirty="0">
                <a:latin typeface="+mn-lt"/>
              </a:rPr>
              <a:t> R. Pacheco and C. </a:t>
            </a:r>
            <a:r>
              <a:rPr lang="en-IN" sz="2000" dirty="0" err="1">
                <a:latin typeface="+mn-lt"/>
              </a:rPr>
              <a:t>Krohling</a:t>
            </a:r>
            <a:r>
              <a:rPr lang="en-IN" sz="2000" dirty="0">
                <a:latin typeface="+mn-lt"/>
              </a:rPr>
              <a:t>, “The impact of patient clinical information on automated skin cancer detection,” </a:t>
            </a:r>
            <a:r>
              <a:rPr lang="en-IN" sz="2000" i="1" dirty="0" err="1">
                <a:latin typeface="+mn-lt"/>
              </a:rPr>
              <a:t>Comput</a:t>
            </a:r>
            <a:r>
              <a:rPr lang="en-IN" sz="2000" i="1" dirty="0">
                <a:latin typeface="+mn-lt"/>
              </a:rPr>
              <a:t>. Biol. Med.</a:t>
            </a:r>
            <a:r>
              <a:rPr lang="en-IN" sz="2000" dirty="0">
                <a:latin typeface="+mn-lt"/>
              </a:rPr>
              <a:t>, vol. 116, p. 103545, 2020. </a:t>
            </a:r>
            <a:r>
              <a:rPr lang="en-IN" sz="2000" dirty="0">
                <a:latin typeface="+mn-lt"/>
                <a:hlinkClick r:id="rId3"/>
              </a:rPr>
              <a:t>https://doi.org/10.1016/j.compbiomed.2019.103545</a:t>
            </a:r>
            <a:endParaRPr lang="en-IN" sz="2000" dirty="0">
              <a:latin typeface="+mn-lt"/>
            </a:endParaRPr>
          </a:p>
          <a:p>
            <a:pPr marL="76200" indent="0">
              <a:buNone/>
            </a:pPr>
            <a:endParaRPr lang="en-IN" sz="2000" dirty="0">
              <a:latin typeface="+mn-lt"/>
            </a:endParaRPr>
          </a:p>
          <a:p>
            <a:pPr marL="76200" indent="0">
              <a:buNone/>
            </a:pPr>
            <a:r>
              <a:rPr lang="en-IN" sz="2000" b="1" dirty="0">
                <a:latin typeface="+mn-lt"/>
              </a:rPr>
              <a:t>[6]</a:t>
            </a:r>
            <a:r>
              <a:rPr lang="en-IN" sz="2000" dirty="0">
                <a:latin typeface="+mn-lt"/>
              </a:rPr>
              <a:t> J. Mohan, A. Sivasubramanian, V. Sowmya, and R. </a:t>
            </a:r>
            <a:r>
              <a:rPr lang="en-IN" sz="2000" dirty="0" err="1">
                <a:latin typeface="+mn-lt"/>
              </a:rPr>
              <a:t>Vinayakumar</a:t>
            </a:r>
            <a:r>
              <a:rPr lang="en-IN" sz="2000" dirty="0">
                <a:latin typeface="+mn-lt"/>
              </a:rPr>
              <a:t>, “Enhancing skin disease classification leveraging transformer-based deep learning architectures and explainable AI,” </a:t>
            </a:r>
            <a:r>
              <a:rPr lang="en-IN" sz="2000" i="1" dirty="0" err="1">
                <a:latin typeface="+mn-lt"/>
              </a:rPr>
              <a:t>arXiv</a:t>
            </a:r>
            <a:r>
              <a:rPr lang="en-IN" sz="2000" dirty="0">
                <a:latin typeface="+mn-lt"/>
              </a:rPr>
              <a:t>, 2024. </a:t>
            </a:r>
            <a:r>
              <a:rPr lang="en-IN" sz="2000" dirty="0">
                <a:latin typeface="+mn-lt"/>
                <a:hlinkClick r:id="rId4"/>
              </a:rPr>
              <a:t>https://arxiv.org/abs/2407.14757</a:t>
            </a:r>
            <a:endParaRPr lang="en-IN" sz="2000" dirty="0">
              <a:latin typeface="+mn-lt"/>
            </a:endParaRPr>
          </a:p>
          <a:p>
            <a:pPr marL="76200" indent="0">
              <a:buNone/>
            </a:pPr>
            <a:endParaRPr lang="en-IN" sz="2000" dirty="0">
              <a:latin typeface="+mn-lt"/>
            </a:endParaRPr>
          </a:p>
          <a:p>
            <a:pPr marL="76200" indent="0">
              <a:buNone/>
            </a:pPr>
            <a:r>
              <a:rPr lang="en-US" sz="2000" b="1" dirty="0">
                <a:latin typeface="+mn-lt"/>
              </a:rPr>
              <a:t>[7]</a:t>
            </a:r>
            <a:r>
              <a:rPr lang="en-US" sz="2000" dirty="0">
                <a:latin typeface="+mn-lt"/>
              </a:rPr>
              <a:t> H. Han, S. Moon, H. Kim, S. Oh, and J. Park, “Classification of skin lesion images with ensemble methods and deep learning,” </a:t>
            </a:r>
            <a:r>
              <a:rPr lang="en-US" sz="2000" i="1" dirty="0">
                <a:latin typeface="+mn-lt"/>
              </a:rPr>
              <a:t>IEEE Access</a:t>
            </a:r>
            <a:r>
              <a:rPr lang="en-US" sz="2000" dirty="0">
                <a:latin typeface="+mn-lt"/>
              </a:rPr>
              <a:t>, vol. 8, pp. 118–127, 2020. </a:t>
            </a:r>
            <a:r>
              <a:rPr lang="en-US" sz="2000" dirty="0">
                <a:latin typeface="+mn-lt"/>
                <a:hlinkClick r:id="rId5"/>
              </a:rPr>
              <a:t>https://doi.org/10.1109/ACCESS.2020.2967488</a:t>
            </a:r>
            <a:endParaRPr lang="en-IN" sz="2000" dirty="0">
              <a:latin typeface="+mn-lt"/>
            </a:endParaRPr>
          </a:p>
          <a:p>
            <a:pPr marL="76200" indent="0">
              <a:buNone/>
            </a:pPr>
            <a:endParaRPr lang="en-IN" sz="2000" dirty="0">
              <a:latin typeface="+mn-lt"/>
            </a:endParaRPr>
          </a:p>
        </p:txBody>
      </p:sp>
    </p:spTree>
    <p:extLst>
      <p:ext uri="{BB962C8B-B14F-4D97-AF65-F5344CB8AC3E}">
        <p14:creationId xmlns:p14="http://schemas.microsoft.com/office/powerpoint/2010/main" val="3057988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4E21D-FC30-2377-7AB6-ABC74871734F}"/>
              </a:ext>
            </a:extLst>
          </p:cNvPr>
          <p:cNvSpPr>
            <a:spLocks noGrp="1"/>
          </p:cNvSpPr>
          <p:nvPr>
            <p:ph type="title"/>
          </p:nvPr>
        </p:nvSpPr>
        <p:spPr/>
        <p:txBody>
          <a:bodyPr/>
          <a:lstStyle/>
          <a:p>
            <a:r>
              <a:rPr lang="en-GB" dirty="0">
                <a:latin typeface="Verdana" panose="020B0604030504040204" pitchFamily="34" charset="0"/>
                <a:ea typeface="Verdana" panose="020B0604030504040204" pitchFamily="34" charset="0"/>
              </a:rPr>
              <a:t>References (IEEE Paper format)</a:t>
            </a:r>
            <a:endParaRPr lang="en-IN" dirty="0"/>
          </a:p>
        </p:txBody>
      </p:sp>
      <p:sp>
        <p:nvSpPr>
          <p:cNvPr id="3" name="Text Placeholder 2">
            <a:extLst>
              <a:ext uri="{FF2B5EF4-FFF2-40B4-BE49-F238E27FC236}">
                <a16:creationId xmlns:a16="http://schemas.microsoft.com/office/drawing/2014/main" id="{34B77BD2-0651-4994-7FD7-21D03D721C55}"/>
              </a:ext>
            </a:extLst>
          </p:cNvPr>
          <p:cNvSpPr>
            <a:spLocks noGrp="1"/>
          </p:cNvSpPr>
          <p:nvPr>
            <p:ph type="body" idx="1"/>
          </p:nvPr>
        </p:nvSpPr>
        <p:spPr/>
        <p:txBody>
          <a:bodyPr>
            <a:normAutofit/>
          </a:bodyPr>
          <a:lstStyle/>
          <a:p>
            <a:pPr marL="76200" indent="0">
              <a:buNone/>
            </a:pPr>
            <a:r>
              <a:rPr lang="en-IN" sz="2200" b="1" dirty="0">
                <a:latin typeface="+mn-lt"/>
              </a:rPr>
              <a:t>[8]</a:t>
            </a:r>
            <a:r>
              <a:rPr lang="en-IN" sz="2200" dirty="0">
                <a:latin typeface="+mn-lt"/>
              </a:rPr>
              <a:t> F. Xie, Q. Liu, S. Zhang, and J. Liu, “A lightweight CNN model for mobile skin disease diagnosis,” </a:t>
            </a:r>
            <a:r>
              <a:rPr lang="en-IN" sz="2200" i="1" dirty="0">
                <a:latin typeface="+mn-lt"/>
              </a:rPr>
              <a:t>Pattern </a:t>
            </a:r>
            <a:r>
              <a:rPr lang="en-IN" sz="2200" i="1" dirty="0" err="1">
                <a:latin typeface="+mn-lt"/>
              </a:rPr>
              <a:t>Recognit</a:t>
            </a:r>
            <a:r>
              <a:rPr lang="en-IN" sz="2200" i="1" dirty="0">
                <a:latin typeface="+mn-lt"/>
              </a:rPr>
              <a:t>. Lett.</a:t>
            </a:r>
            <a:r>
              <a:rPr lang="en-IN" sz="2200" dirty="0">
                <a:latin typeface="+mn-lt"/>
              </a:rPr>
              <a:t>, vol. 144, pp. 27–34, 2021. </a:t>
            </a:r>
            <a:r>
              <a:rPr lang="en-IN" sz="2200" dirty="0">
                <a:latin typeface="+mn-lt"/>
                <a:hlinkClick r:id="rId2"/>
              </a:rPr>
              <a:t>https://doi.org/10.1016/j.patrec.2020.12.005</a:t>
            </a:r>
            <a:endParaRPr lang="en-IN" sz="2200" dirty="0">
              <a:latin typeface="+mn-lt"/>
            </a:endParaRPr>
          </a:p>
          <a:p>
            <a:pPr marL="76200" indent="0">
              <a:buNone/>
            </a:pPr>
            <a:endParaRPr lang="en-IN" sz="2200" dirty="0">
              <a:latin typeface="+mn-lt"/>
            </a:endParaRPr>
          </a:p>
          <a:p>
            <a:pPr marL="76200" indent="0">
              <a:buNone/>
            </a:pPr>
            <a:r>
              <a:rPr lang="en-IN" sz="2200" b="1" dirty="0">
                <a:latin typeface="+mn-lt"/>
              </a:rPr>
              <a:t>[9]</a:t>
            </a:r>
            <a:r>
              <a:rPr lang="en-IN" sz="2200" dirty="0">
                <a:latin typeface="+mn-lt"/>
              </a:rPr>
              <a:t> M. Goyal, A. Kaur, and R. K. Jha, “AI-based explainability for skin lesion classification using Grad-CAM,” </a:t>
            </a:r>
            <a:r>
              <a:rPr lang="en-IN" sz="2200" i="1" dirty="0">
                <a:latin typeface="+mn-lt"/>
              </a:rPr>
              <a:t>Diagnostics</a:t>
            </a:r>
            <a:r>
              <a:rPr lang="en-IN" sz="2200" dirty="0">
                <a:latin typeface="+mn-lt"/>
              </a:rPr>
              <a:t>, vol. 10, no. 12, p. 1092, 2020. </a:t>
            </a:r>
            <a:r>
              <a:rPr lang="en-IN" sz="2200" dirty="0">
                <a:latin typeface="+mn-lt"/>
                <a:hlinkClick r:id="rId3"/>
              </a:rPr>
              <a:t>https://doi.org/10.3390/diagnostics10121092</a:t>
            </a:r>
            <a:endParaRPr lang="en-IN" sz="2200" dirty="0">
              <a:latin typeface="+mn-lt"/>
            </a:endParaRPr>
          </a:p>
          <a:p>
            <a:pPr marL="76200" indent="0">
              <a:buNone/>
            </a:pPr>
            <a:endParaRPr lang="en-IN" sz="2200" dirty="0">
              <a:latin typeface="+mn-lt"/>
            </a:endParaRPr>
          </a:p>
          <a:p>
            <a:pPr marL="76200" indent="0">
              <a:buNone/>
            </a:pPr>
            <a:r>
              <a:rPr lang="en-IN" sz="2200" b="1" dirty="0">
                <a:latin typeface="+mn-lt"/>
              </a:rPr>
              <a:t>[10]</a:t>
            </a:r>
            <a:r>
              <a:rPr lang="en-IN" sz="2200" dirty="0">
                <a:latin typeface="+mn-lt"/>
              </a:rPr>
              <a:t> K. Yu, M. M. Yan, A. M. Long, C. K. Chen, and L. L. Wong, “Evaluating fairness in AI dermatology models across skin tones,” </a:t>
            </a:r>
            <a:r>
              <a:rPr lang="en-IN" sz="2200" i="1" dirty="0" err="1">
                <a:latin typeface="+mn-lt"/>
              </a:rPr>
              <a:t>npj</a:t>
            </a:r>
            <a:r>
              <a:rPr lang="en-IN" sz="2200" i="1" dirty="0">
                <a:latin typeface="+mn-lt"/>
              </a:rPr>
              <a:t> Digit. Med.</a:t>
            </a:r>
            <a:r>
              <a:rPr lang="en-IN" sz="2200" dirty="0">
                <a:latin typeface="+mn-lt"/>
              </a:rPr>
              <a:t>, vol. 4, p. 139, 2021.  </a:t>
            </a:r>
            <a:r>
              <a:rPr lang="en-IN" sz="2200" dirty="0">
                <a:latin typeface="+mn-lt"/>
                <a:hlinkClick r:id="rId4"/>
              </a:rPr>
              <a:t>https://doi.org/10.1038/s41746-021-00492-0</a:t>
            </a:r>
            <a:endParaRPr lang="en-IN" sz="2200" dirty="0">
              <a:latin typeface="+mn-lt"/>
            </a:endParaRPr>
          </a:p>
        </p:txBody>
      </p:sp>
    </p:spTree>
    <p:extLst>
      <p:ext uri="{BB962C8B-B14F-4D97-AF65-F5344CB8AC3E}">
        <p14:creationId xmlns:p14="http://schemas.microsoft.com/office/powerpoint/2010/main" val="3156288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724</TotalTime>
  <Words>3104</Words>
  <Application>Microsoft Office PowerPoint</Application>
  <PresentationFormat>Widescreen</PresentationFormat>
  <Paragraphs>212</Paragraphs>
  <Slides>24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Cambria</vt:lpstr>
      <vt:lpstr>Verdana</vt:lpstr>
      <vt:lpstr>Bioinformatics</vt:lpstr>
      <vt:lpstr>AI-Based Tool for Preliminary Diagnosis of Dermatological Manifestations</vt:lpstr>
      <vt:lpstr>Abstract</vt:lpstr>
      <vt:lpstr>Literature Survey (10 papers)</vt:lpstr>
      <vt:lpstr>Literature Survey</vt:lpstr>
      <vt:lpstr>Literature Survey</vt:lpstr>
      <vt:lpstr>Literature Survey</vt:lpstr>
      <vt:lpstr>Literature Survey</vt:lpstr>
      <vt:lpstr>Literature Survey</vt:lpstr>
      <vt:lpstr>Literature Survey (10 papers)</vt:lpstr>
      <vt:lpstr>Objectives </vt:lpstr>
      <vt:lpstr>Existing Methods and Drawbacks</vt:lpstr>
      <vt:lpstr>Proposed Method &amp; Feasibility Study</vt:lpstr>
      <vt:lpstr>Proposed Method &amp; Feasibility Study</vt:lpstr>
      <vt:lpstr>Architecture Diagram</vt:lpstr>
      <vt:lpstr>Architecture Diagram</vt:lpstr>
      <vt:lpstr>Modules</vt:lpstr>
      <vt:lpstr>Technology Stack Components</vt:lpstr>
      <vt:lpstr>Software Requirements</vt:lpstr>
      <vt:lpstr>Github Link</vt:lpstr>
      <vt:lpstr>Timeline of the Project (Gantt Chart)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karthik mp</cp:lastModifiedBy>
  <cp:revision>48</cp:revision>
  <dcterms:modified xsi:type="dcterms:W3CDTF">2025-09-07T16:02:19Z</dcterms:modified>
</cp:coreProperties>
</file>